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71" r:id="rId4"/>
    <p:sldId id="258" r:id="rId5"/>
    <p:sldId id="270" r:id="rId6"/>
    <p:sldId id="269" r:id="rId7"/>
    <p:sldId id="268" r:id="rId8"/>
    <p:sldId id="267" r:id="rId9"/>
    <p:sldId id="266" r:id="rId10"/>
    <p:sldId id="265" r:id="rId11"/>
    <p:sldId id="264"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12700" y="-3175"/>
            <a:ext cx="12204700" cy="6861175"/>
          </a:xfrm>
          <a:prstGeom prst="rect">
            <a:avLst/>
          </a:prstGeom>
          <a:noFill/>
          <a:ln w="9525">
            <a:noFill/>
          </a:ln>
        </p:spPr>
      </p:pic>
      <p:sp>
        <p:nvSpPr>
          <p:cNvPr id="2051" name="Rectangle 3"/>
          <p:cNvSpPr>
            <a:spLocks noGrp="1" noChangeArrowheads="1"/>
          </p:cNvSpPr>
          <p:nvPr>
            <p:ph type="ctrTitle"/>
          </p:nvPr>
        </p:nvSpPr>
        <p:spPr>
          <a:xfrm>
            <a:off x="2063751" y="1125538"/>
            <a:ext cx="9211733"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351088"/>
            <a:ext cx="9218083" cy="1752600"/>
          </a:xfrm>
        </p:spPr>
        <p:txBody>
          <a:bodyPr/>
          <a:lstStyle>
            <a:lvl1pPr marL="0" indent="0" algn="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6"/>
          <p:cNvPicPr>
            <a:picLocks noChangeAspect="1"/>
          </p:cNvPicPr>
          <p:nvPr/>
        </p:nvPicPr>
        <p:blipFill>
          <a:blip r:embed="rId12"/>
          <a:stretch>
            <a:fillRect/>
          </a:stretch>
        </p:blipFill>
        <p:spPr>
          <a:xfrm>
            <a:off x="0" y="0"/>
            <a:ext cx="12198351" cy="6861175"/>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bg1"/>
          </a:solidFill>
          <a:latin typeface="+mj-lt"/>
          <a:ea typeface="+mj-ea"/>
          <a:cs typeface="+mj-cs"/>
        </a:defRPr>
      </a:lvl1pPr>
      <a:lvl2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docs.google.com/spreadsheets/d/1UbPxiJcxGFGGoGDDov4ChpXj0B0Bidru/edit?usp=drivesdk&amp;ouid=111398243446314990339&amp;rtpof=true&amp;sd=tru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2700020" y="2278380"/>
            <a:ext cx="6642100" cy="1064895"/>
          </a:xfrm>
          <a:prstGeom prst="rect">
            <a:avLst/>
          </a:prstGeom>
          <a:noFill/>
        </p:spPr>
        <p:txBody>
          <a:bodyPr wrap="square" rtlCol="0">
            <a:noAutofit/>
          </a:bodyPr>
          <a:p>
            <a:r>
              <a:rPr lang="en-US" sz="400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ABC Call Volume Trend Analysis </a:t>
            </a:r>
            <a:endParaRPr lang="en-US" sz="400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endParaRPr>
          </a:p>
        </p:txBody>
      </p:sp>
      <p:sp>
        <p:nvSpPr>
          <p:cNvPr id="5" name="Text Box 4"/>
          <p:cNvSpPr txBox="1"/>
          <p:nvPr/>
        </p:nvSpPr>
        <p:spPr>
          <a:xfrm>
            <a:off x="8586470" y="5915025"/>
            <a:ext cx="4064000" cy="368300"/>
          </a:xfrm>
          <a:prstGeom prst="rect">
            <a:avLst/>
          </a:prstGeom>
          <a:noFill/>
        </p:spPr>
        <p:txBody>
          <a:bodyPr wrap="square" rtlCol="0">
            <a:spAutoFit/>
          </a:bodyPr>
          <a:p>
            <a:r>
              <a:rPr lang="en-US"/>
              <a:t>by - Santosh lal choudhury</a:t>
            </a:r>
            <a:endParaRPr 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80975" y="403860"/>
            <a:ext cx="10450195" cy="2309495"/>
          </a:xfrm>
          <a:prstGeom prst="rect">
            <a:avLst/>
          </a:prstGeom>
          <a:noFill/>
        </p:spPr>
        <p:txBody>
          <a:bodyPr wrap="square" rtlCol="0">
            <a:noAutofit/>
          </a:bodyPr>
          <a:p>
            <a:r>
              <a:rPr lang="en-US" sz="2000" b="1"/>
              <a:t>Project Description:</a:t>
            </a:r>
            <a:endParaRPr lang="en-US" sz="2000" b="1"/>
          </a:p>
          <a:p>
            <a:endParaRPr lang="en-US"/>
          </a:p>
          <a:p>
            <a:pPr>
              <a:lnSpc>
                <a:spcPct val="110000"/>
              </a:lnSpc>
            </a:pPr>
            <a:r>
              <a:rPr lang="en-US"/>
              <a:t>ABC is a Call centre which has a Customer Experience team for the voiceprocess. Typically, these teams fulﬁl various roles and responsibilities such as:Customer experience programs (CX programs), Digital customer experience,Design and processes, Internal communications, Voice of the customer (VoC),User experiences, Customer experience management, Journey mapping,Nurturing customer interactions, Customer success, Customer support,Handling customer data, Learning about the customer journey. I have beenprovided with the data of ABC call centre for the last 23 days and I should analyze the data and help the company answer some of the business questions.</a:t>
            </a:r>
            <a:endParaRPr lang="en-US"/>
          </a:p>
        </p:txBody>
      </p:sp>
      <p:sp>
        <p:nvSpPr>
          <p:cNvPr id="3" name="Text Box 2"/>
          <p:cNvSpPr txBox="1"/>
          <p:nvPr/>
        </p:nvSpPr>
        <p:spPr>
          <a:xfrm>
            <a:off x="334645" y="3308350"/>
            <a:ext cx="9747885" cy="2412365"/>
          </a:xfrm>
          <a:prstGeom prst="rect">
            <a:avLst/>
          </a:prstGeom>
          <a:noFill/>
        </p:spPr>
        <p:txBody>
          <a:bodyPr wrap="square" rtlCol="0">
            <a:noAutofit/>
          </a:bodyPr>
          <a:p>
            <a:r>
              <a:rPr lang="en-US" sz="2000" b="1"/>
              <a:t>Approach :</a:t>
            </a:r>
            <a:endParaRPr lang="en-US" sz="2000" b="1"/>
          </a:p>
          <a:p>
            <a:pPr marL="285750" indent="-285750">
              <a:lnSpc>
                <a:spcPct val="110000"/>
              </a:lnSpc>
              <a:buFont typeface="Arial" panose="020B0604020202020204" pitchFamily="34" charset="0"/>
              <a:buChar char="•"/>
            </a:pPr>
            <a:r>
              <a:rPr lang="en-US"/>
              <a:t>Check the data for consistencies. </a:t>
            </a:r>
            <a:endParaRPr lang="en-US"/>
          </a:p>
          <a:p>
            <a:pPr marL="285750" indent="-285750">
              <a:lnSpc>
                <a:spcPct val="110000"/>
              </a:lnSpc>
              <a:buFont typeface="Arial" panose="020B0604020202020204" pitchFamily="34" charset="0"/>
              <a:buChar char="•"/>
            </a:pPr>
            <a:r>
              <a:rPr lang="en-US"/>
              <a:t>Create a table in Excel. </a:t>
            </a:r>
            <a:endParaRPr lang="en-US"/>
          </a:p>
          <a:p>
            <a:pPr marL="285750" indent="-285750">
              <a:lnSpc>
                <a:spcPct val="110000"/>
              </a:lnSpc>
              <a:buFont typeface="Arial" panose="020B0604020202020204" pitchFamily="34" charset="0"/>
              <a:buChar char="•"/>
            </a:pPr>
            <a:r>
              <a:rPr lang="en-US"/>
              <a:t>Create extra columns if required. </a:t>
            </a:r>
            <a:endParaRPr lang="en-US"/>
          </a:p>
          <a:p>
            <a:pPr marL="285750" indent="-285750">
              <a:lnSpc>
                <a:spcPct val="110000"/>
              </a:lnSpc>
              <a:buFont typeface="Arial" panose="020B0604020202020204" pitchFamily="34" charset="0"/>
              <a:buChar char="•"/>
            </a:pPr>
            <a:r>
              <a:rPr lang="en-US"/>
              <a:t>Create Pivot Tables and charts. </a:t>
            </a:r>
            <a:endParaRPr lang="en-US"/>
          </a:p>
        </p:txBody>
      </p:sp>
    </p:spTree>
  </p:cSld>
  <p:clrMapOvr>
    <a:masterClrMapping/>
  </p:clrMapOvr>
  <mc:AlternateContent xmlns:mc="http://schemas.openxmlformats.org/markup-compatibility/2006">
    <mc:Choice xmlns:p14="http://schemas.microsoft.com/office/powerpoint/2010/main" Requires="p14">
      <p:transition p14:dur="10" advTm="1000"/>
    </mc:Choice>
    <mc:Fallback>
      <p:transition advTm="1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76985" y="1346200"/>
            <a:ext cx="7517130" cy="645160"/>
          </a:xfrm>
          <a:prstGeom prst="rect">
            <a:avLst/>
          </a:prstGeom>
          <a:noFill/>
        </p:spPr>
        <p:txBody>
          <a:bodyPr wrap="square" rtlCol="0">
            <a:spAutoFit/>
          </a:bodyPr>
          <a:p>
            <a:r>
              <a:rPr lang="en-US" altLang="en-IN" b="1">
                <a:sym typeface="+mn-ea"/>
              </a:rPr>
              <a:t>A</a:t>
            </a:r>
            <a:r>
              <a:rPr lang="en-IN" altLang="en-US" b="1">
                <a:sym typeface="+mn-ea"/>
              </a:rPr>
              <a:t>PP</a:t>
            </a:r>
            <a:r>
              <a:rPr lang="en-IN" altLang="en-US">
                <a:sym typeface="+mn-ea"/>
              </a:rPr>
              <a:t>-WPS OFFICE</a:t>
            </a:r>
            <a:r>
              <a:rPr lang="en-US" altLang="en-IN">
                <a:sym typeface="+mn-ea"/>
              </a:rPr>
              <a:t> Excel</a:t>
            </a:r>
            <a:r>
              <a:rPr lang="en-IN" altLang="en-US">
                <a:sym typeface="+mn-ea"/>
              </a:rPr>
              <a:t>, </a:t>
            </a:r>
            <a:r>
              <a:rPr lang="en-IN" altLang="en-US" b="1">
                <a:sym typeface="+mn-ea"/>
              </a:rPr>
              <a:t>Product Version</a:t>
            </a:r>
            <a:r>
              <a:rPr lang="en-IN" altLang="en-US">
                <a:sym typeface="+mn-ea"/>
              </a:rPr>
              <a:t>-12.2.0.13085 ,</a:t>
            </a:r>
            <a:r>
              <a:rPr lang="en-IN" altLang="en-US" b="1">
                <a:sym typeface="+mn-ea"/>
              </a:rPr>
              <a:t>Publisher</a:t>
            </a:r>
            <a:r>
              <a:rPr lang="en-IN" altLang="en-US">
                <a:sym typeface="+mn-ea"/>
              </a:rPr>
              <a:t>-Kingsoft corp.</a:t>
            </a:r>
            <a:endParaRPr lang="en-IN" altLang="en-US"/>
          </a:p>
          <a:p>
            <a:endParaRPr lang="en-US"/>
          </a:p>
        </p:txBody>
      </p:sp>
      <p:sp>
        <p:nvSpPr>
          <p:cNvPr id="3" name="Text Box 2"/>
          <p:cNvSpPr txBox="1"/>
          <p:nvPr/>
        </p:nvSpPr>
        <p:spPr>
          <a:xfrm>
            <a:off x="1276985" y="922655"/>
            <a:ext cx="4064000" cy="398780"/>
          </a:xfrm>
          <a:prstGeom prst="rect">
            <a:avLst/>
          </a:prstGeom>
          <a:noFill/>
        </p:spPr>
        <p:txBody>
          <a:bodyPr wrap="square" rtlCol="0">
            <a:spAutoFit/>
          </a:bodyPr>
          <a:p>
            <a:r>
              <a:rPr lang="en-US" sz="2000" b="1"/>
              <a:t>Tech Stack Used :</a:t>
            </a:r>
            <a:endParaRPr lang="en-US" sz="2000" b="1"/>
          </a:p>
        </p:txBody>
      </p:sp>
      <p:sp>
        <p:nvSpPr>
          <p:cNvPr id="4" name="Text Box 3"/>
          <p:cNvSpPr txBox="1"/>
          <p:nvPr/>
        </p:nvSpPr>
        <p:spPr>
          <a:xfrm>
            <a:off x="1161415" y="1990725"/>
            <a:ext cx="9843770" cy="2835275"/>
          </a:xfrm>
          <a:prstGeom prst="rect">
            <a:avLst/>
          </a:prstGeom>
          <a:noFill/>
        </p:spPr>
        <p:txBody>
          <a:bodyPr wrap="square" rtlCol="0">
            <a:spAutoFit/>
          </a:bodyPr>
          <a:p>
            <a:r>
              <a:rPr lang="en-US" sz="2000" b="1"/>
              <a:t>About the Dataset :</a:t>
            </a:r>
            <a:endParaRPr lang="en-US"/>
          </a:p>
          <a:p>
            <a:pPr marL="285750" indent="-285750">
              <a:lnSpc>
                <a:spcPct val="110000"/>
              </a:lnSpc>
              <a:buFont typeface="Arial" panose="020B0604020202020204" pitchFamily="34" charset="0"/>
              <a:buChar char="•"/>
            </a:pPr>
            <a:r>
              <a:rPr lang="en-US"/>
              <a:t>There are 117988 rows and 13 columns.</a:t>
            </a:r>
            <a:endParaRPr lang="en-US"/>
          </a:p>
          <a:p>
            <a:pPr marL="285750" indent="-285750">
              <a:lnSpc>
                <a:spcPct val="110000"/>
              </a:lnSpc>
              <a:buFont typeface="Arial" panose="020B0604020202020204" pitchFamily="34" charset="0"/>
              <a:buChar char="•"/>
            </a:pPr>
            <a:r>
              <a:rPr lang="en-US"/>
              <a:t>Agent name is a categorical column containing names of the agents attending the phone call.</a:t>
            </a:r>
            <a:endParaRPr lang="en-US"/>
          </a:p>
          <a:p>
            <a:pPr marL="285750" indent="-285750">
              <a:lnSpc>
                <a:spcPct val="110000"/>
              </a:lnSpc>
              <a:buFont typeface="Arial" panose="020B0604020202020204" pitchFamily="34" charset="0"/>
              <a:buChar char="•"/>
            </a:pPr>
            <a:r>
              <a:rPr lang="en-US"/>
              <a:t>Agent Id column contains the agent id .</a:t>
            </a:r>
            <a:endParaRPr lang="en-US"/>
          </a:p>
          <a:p>
            <a:pPr marL="285750" indent="-285750">
              <a:lnSpc>
                <a:spcPct val="110000"/>
              </a:lnSpc>
              <a:buFont typeface="Arial" panose="020B0604020202020204" pitchFamily="34" charset="0"/>
              <a:buChar char="•"/>
            </a:pPr>
            <a:r>
              <a:rPr lang="en-US"/>
              <a:t>Customer column contains the contact number of the customer.</a:t>
            </a:r>
            <a:endParaRPr lang="en-US"/>
          </a:p>
          <a:p>
            <a:pPr marL="285750" indent="-285750">
              <a:lnSpc>
                <a:spcPct val="110000"/>
              </a:lnSpc>
              <a:buFont typeface="Arial" panose="020B0604020202020204" pitchFamily="34" charset="0"/>
              <a:buChar char="•"/>
            </a:pPr>
            <a:r>
              <a:rPr lang="en-US"/>
              <a:t>Queue time contains the seconds customer has waited before the agent has picked the call.</a:t>
            </a:r>
            <a:endParaRPr lang="en-US"/>
          </a:p>
          <a:p>
            <a:pPr marL="285750" indent="-285750">
              <a:lnSpc>
                <a:spcPct val="110000"/>
              </a:lnSpc>
              <a:buFont typeface="Arial" panose="020B0604020202020204" pitchFamily="34" charset="0"/>
              <a:buChar char="•"/>
            </a:pPr>
            <a:r>
              <a:rPr lang="en-US"/>
              <a:t>Date_&amp;_Time, Time &amp; Time_Bucket are used for time intelligence.</a:t>
            </a:r>
            <a:endParaRPr lang="en-US"/>
          </a:p>
          <a:p>
            <a:pPr marL="285750" indent="-285750">
              <a:lnSpc>
                <a:spcPct val="110000"/>
              </a:lnSpc>
              <a:buFont typeface="Arial" panose="020B0604020202020204" pitchFamily="34" charset="0"/>
              <a:buChar char="•"/>
            </a:pPr>
            <a:r>
              <a:rPr lang="en-US"/>
              <a:t>Duration and Call_seconds contains the duration of the call.</a:t>
            </a:r>
            <a:endParaRPr lang="en-US"/>
          </a:p>
          <a:p>
            <a:pPr marL="285750" indent="-285750">
              <a:lnSpc>
                <a:spcPct val="110000"/>
              </a:lnSpc>
              <a:buFont typeface="Arial" panose="020B0604020202020204" pitchFamily="34" charset="0"/>
              <a:buChar char="•"/>
            </a:pPr>
            <a:r>
              <a:rPr lang="en-US"/>
              <a:t>Call Status and Wrapped are also categorical columns.</a:t>
            </a:r>
            <a:endParaRPr 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49325" y="653415"/>
            <a:ext cx="10296525" cy="1312545"/>
          </a:xfrm>
          <a:prstGeom prst="rect">
            <a:avLst/>
          </a:prstGeom>
          <a:noFill/>
        </p:spPr>
        <p:txBody>
          <a:bodyPr wrap="square" rtlCol="0">
            <a:spAutoFit/>
          </a:bodyPr>
          <a:p>
            <a:r>
              <a:rPr lang="en-US" sz="2000" b="1"/>
              <a:t>Cleaning the dataset :</a:t>
            </a:r>
            <a:endParaRPr lang="en-US" sz="2000" b="1"/>
          </a:p>
          <a:p>
            <a:pPr marL="285750" indent="-285750">
              <a:lnSpc>
                <a:spcPct val="110000"/>
              </a:lnSpc>
              <a:buFont typeface="Arial" panose="020B0604020202020204" pitchFamily="34" charset="0"/>
              <a:buChar char="•"/>
            </a:pPr>
            <a:r>
              <a:rPr lang="en-US"/>
              <a:t>The agent Name and Agent Id has null values.</a:t>
            </a:r>
            <a:endParaRPr lang="en-US"/>
          </a:p>
          <a:p>
            <a:pPr marL="285750" indent="-285750">
              <a:lnSpc>
                <a:spcPct val="110000"/>
              </a:lnSpc>
              <a:buFont typeface="Arial" panose="020B0604020202020204" pitchFamily="34" charset="0"/>
              <a:buChar char="•"/>
            </a:pPr>
            <a:r>
              <a:rPr lang="en-US"/>
              <a:t>The columns Ringing and IVR duration are not used since ringing has only one variable and IVR duration is not of any use to our analysis.</a:t>
            </a:r>
            <a:endParaRPr lang="en-US"/>
          </a:p>
        </p:txBody>
      </p:sp>
      <p:pic>
        <p:nvPicPr>
          <p:cNvPr id="3" name="Picture 2"/>
          <p:cNvPicPr>
            <a:picLocks noChangeAspect="1"/>
          </p:cNvPicPr>
          <p:nvPr/>
        </p:nvPicPr>
        <p:blipFill>
          <a:blip r:embed="rId1"/>
          <a:stretch>
            <a:fillRect/>
          </a:stretch>
        </p:blipFill>
        <p:spPr>
          <a:xfrm>
            <a:off x="532130" y="2037715"/>
            <a:ext cx="11280140" cy="45999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26415" y="412750"/>
            <a:ext cx="4064000" cy="460375"/>
          </a:xfrm>
          <a:prstGeom prst="rect">
            <a:avLst/>
          </a:prstGeom>
          <a:noFill/>
        </p:spPr>
        <p:txBody>
          <a:bodyPr wrap="square" rtlCol="0">
            <a:spAutoFit/>
          </a:bodyPr>
          <a:p>
            <a:r>
              <a:rPr lang="en-US" sz="2400" b="1"/>
              <a:t>Data Analytics Tasks:</a:t>
            </a:r>
            <a:endParaRPr lang="en-US" sz="2400" b="1"/>
          </a:p>
        </p:txBody>
      </p:sp>
      <p:sp>
        <p:nvSpPr>
          <p:cNvPr id="3" name="Text Box 2"/>
          <p:cNvSpPr txBox="1"/>
          <p:nvPr/>
        </p:nvSpPr>
        <p:spPr>
          <a:xfrm>
            <a:off x="699770" y="1038225"/>
            <a:ext cx="9843770" cy="645160"/>
          </a:xfrm>
          <a:prstGeom prst="rect">
            <a:avLst/>
          </a:prstGeom>
          <a:noFill/>
        </p:spPr>
        <p:txBody>
          <a:bodyPr wrap="square" rtlCol="0">
            <a:spAutoFit/>
          </a:bodyPr>
          <a:p>
            <a:pPr marL="342900" indent="-342900">
              <a:buAutoNum type="arabicPeriod"/>
            </a:pPr>
            <a:r>
              <a:rPr lang="en-US" b="1"/>
              <a:t>Average Call Duration: </a:t>
            </a:r>
            <a:r>
              <a:rPr lang="en-US"/>
              <a:t>Determine the average duration of all incoming calls received by agents. This should be calculated for each time bucket.</a:t>
            </a:r>
            <a:endParaRPr lang="en-US"/>
          </a:p>
        </p:txBody>
      </p:sp>
      <p:pic>
        <p:nvPicPr>
          <p:cNvPr id="4" name="Picture 3"/>
          <p:cNvPicPr>
            <a:picLocks noChangeAspect="1"/>
          </p:cNvPicPr>
          <p:nvPr/>
        </p:nvPicPr>
        <p:blipFill>
          <a:blip r:embed="rId1"/>
          <a:stretch>
            <a:fillRect/>
          </a:stretch>
        </p:blipFill>
        <p:spPr>
          <a:xfrm>
            <a:off x="866140" y="1683385"/>
            <a:ext cx="10401935" cy="3923665"/>
          </a:xfrm>
          <a:prstGeom prst="rect">
            <a:avLst/>
          </a:prstGeom>
        </p:spPr>
      </p:pic>
      <p:sp>
        <p:nvSpPr>
          <p:cNvPr id="5" name="Text Box 4"/>
          <p:cNvSpPr txBox="1"/>
          <p:nvPr/>
        </p:nvSpPr>
        <p:spPr>
          <a:xfrm>
            <a:off x="969010" y="5885815"/>
            <a:ext cx="10180955" cy="645160"/>
          </a:xfrm>
          <a:prstGeom prst="rect">
            <a:avLst/>
          </a:prstGeom>
          <a:noFill/>
        </p:spPr>
        <p:txBody>
          <a:bodyPr wrap="square" rtlCol="0">
            <a:spAutoFit/>
          </a:bodyPr>
          <a:p>
            <a:pPr indent="0">
              <a:buFont typeface="Arial" panose="020B0604020202020204" pitchFamily="34" charset="0"/>
              <a:buNone/>
            </a:pPr>
            <a:r>
              <a:rPr lang="en-US" b="1"/>
              <a:t>Insight:</a:t>
            </a:r>
            <a:endParaRPr lang="en-US" b="1"/>
          </a:p>
          <a:p>
            <a:pPr marL="285750" indent="-285750">
              <a:buFont typeface="Arial" panose="020B0604020202020204" pitchFamily="34" charset="0"/>
              <a:buChar char="•"/>
            </a:pPr>
            <a:r>
              <a:rPr lang="en-US"/>
              <a:t>As it can be seen that avg call duration increases between 10-11 &amp; 18-21 time bucket.</a:t>
            </a:r>
            <a:endParaRPr 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94005" y="837565"/>
            <a:ext cx="10802620" cy="645160"/>
          </a:xfrm>
          <a:prstGeom prst="rect">
            <a:avLst/>
          </a:prstGeom>
          <a:noFill/>
        </p:spPr>
        <p:txBody>
          <a:bodyPr wrap="square" rtlCol="0">
            <a:spAutoFit/>
          </a:bodyPr>
          <a:p>
            <a:pPr marL="342900" indent="-342900">
              <a:buFont typeface="+mj-lt"/>
              <a:buAutoNum type="arabicPeriod" startAt="2"/>
            </a:pPr>
            <a:r>
              <a:rPr lang="en-US" b="1"/>
              <a:t>Call Volume Analysis:</a:t>
            </a:r>
            <a:r>
              <a:rPr lang="en-US"/>
              <a:t> Visualize the total number of calls received. This should be represented as a graph or chart showing the number of calls against time. Time should be represented in buckets (e.g., 1-2, 2-3, etc.).</a:t>
            </a:r>
            <a:endParaRPr lang="en-US"/>
          </a:p>
        </p:txBody>
      </p:sp>
      <p:pic>
        <p:nvPicPr>
          <p:cNvPr id="3" name="Picture 2"/>
          <p:cNvPicPr>
            <a:picLocks noChangeAspect="1"/>
          </p:cNvPicPr>
          <p:nvPr/>
        </p:nvPicPr>
        <p:blipFill>
          <a:blip r:embed="rId1"/>
          <a:stretch>
            <a:fillRect/>
          </a:stretch>
        </p:blipFill>
        <p:spPr>
          <a:xfrm>
            <a:off x="480060" y="1715135"/>
            <a:ext cx="11231880" cy="4053840"/>
          </a:xfrm>
          <a:prstGeom prst="rect">
            <a:avLst/>
          </a:prstGeom>
        </p:spPr>
      </p:pic>
      <p:sp>
        <p:nvSpPr>
          <p:cNvPr id="4" name="Text Box 3"/>
          <p:cNvSpPr txBox="1"/>
          <p:nvPr/>
        </p:nvSpPr>
        <p:spPr>
          <a:xfrm>
            <a:off x="1090295" y="5768975"/>
            <a:ext cx="10621645" cy="922020"/>
          </a:xfrm>
          <a:prstGeom prst="rect">
            <a:avLst/>
          </a:prstGeom>
          <a:noFill/>
        </p:spPr>
        <p:txBody>
          <a:bodyPr wrap="square" rtlCol="0">
            <a:spAutoFit/>
          </a:bodyPr>
          <a:p>
            <a:pPr indent="0">
              <a:buFont typeface="Arial" panose="020B0604020202020204" pitchFamily="34" charset="0"/>
              <a:buNone/>
            </a:pPr>
            <a:r>
              <a:rPr lang="en-US" b="1"/>
              <a:t>Insight:</a:t>
            </a:r>
            <a:endParaRPr lang="en-US"/>
          </a:p>
          <a:p>
            <a:pPr marL="285750" indent="-285750">
              <a:buFont typeface="Arial" panose="020B0604020202020204" pitchFamily="34" charset="0"/>
              <a:buChar char="•"/>
            </a:pPr>
            <a:r>
              <a:rPr lang="en-US"/>
              <a:t>It can be seen that the Number of calls recieve in a day increases from 9 to 13 and then it starts decreasing.</a:t>
            </a:r>
            <a:endParaRPr 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5090" y="1137285"/>
            <a:ext cx="11029315" cy="1198880"/>
          </a:xfrm>
          <a:prstGeom prst="rect">
            <a:avLst/>
          </a:prstGeom>
          <a:noFill/>
        </p:spPr>
        <p:txBody>
          <a:bodyPr wrap="square" rtlCol="0">
            <a:spAutoFit/>
          </a:bodyPr>
          <a:p>
            <a:pPr marL="342900" indent="-342900">
              <a:buFont typeface="+mj-lt"/>
              <a:buAutoNum type="arabicPeriod" startAt="3"/>
            </a:pPr>
            <a:r>
              <a:rPr lang="en-US" b="1"/>
              <a:t>Manpower Planning:</a:t>
            </a:r>
            <a:r>
              <a:rPr lang="en-US"/>
              <a:t> The current rate of abandoned calls is approximately 30%. Propose a plan for manpower allocation during each time bucket (from 9 am to 9 pm) to reduce the abandon rate to 10%. In other words, you need to calculate the minimum number of agents required in each time bucket to ensure that at least 90 out of 100 calls are answered.</a:t>
            </a:r>
            <a:endParaRPr lang="en-US"/>
          </a:p>
        </p:txBody>
      </p:sp>
      <p:sp>
        <p:nvSpPr>
          <p:cNvPr id="3" name="Text Box 2"/>
          <p:cNvSpPr txBox="1"/>
          <p:nvPr/>
        </p:nvSpPr>
        <p:spPr>
          <a:xfrm>
            <a:off x="498475" y="2634615"/>
            <a:ext cx="10548620" cy="1198880"/>
          </a:xfrm>
          <a:prstGeom prst="rect">
            <a:avLst/>
          </a:prstGeom>
          <a:noFill/>
        </p:spPr>
        <p:txBody>
          <a:bodyPr wrap="square" rtlCol="0">
            <a:spAutoFit/>
          </a:bodyPr>
          <a:p>
            <a:r>
              <a:rPr lang="en-US" b="1"/>
              <a:t>Assumptions:</a:t>
            </a:r>
            <a:r>
              <a:rPr lang="en-US"/>
              <a:t> An agent works for 6 days a week; On average, each agent takes 4 unplanned leaves per month; An agent's total working hours are 9 hours, out of which 1.5 hours are spent on lunch and snacks in the office. On average, an agent spends 60% of their total actual working hours (i.e., 60% of 7.5 hours) on calls with customers/users. The total number of days in a month is 30.</a:t>
            </a:r>
            <a:endParaRPr lang="en-US"/>
          </a:p>
        </p:txBody>
      </p:sp>
      <p:pic>
        <p:nvPicPr>
          <p:cNvPr id="5" name="Picture 4"/>
          <p:cNvPicPr>
            <a:picLocks noChangeAspect="1"/>
          </p:cNvPicPr>
          <p:nvPr/>
        </p:nvPicPr>
        <p:blipFill>
          <a:blip r:embed="rId1"/>
          <a:stretch>
            <a:fillRect/>
          </a:stretch>
        </p:blipFill>
        <p:spPr>
          <a:xfrm>
            <a:off x="565785" y="4052570"/>
            <a:ext cx="11029315" cy="2621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440055" y="3750310"/>
            <a:ext cx="11070590" cy="2804795"/>
          </a:xfrm>
          <a:prstGeom prst="rect">
            <a:avLst/>
          </a:prstGeom>
          <a:noFill/>
        </p:spPr>
        <p:txBody>
          <a:bodyPr wrap="square" rtlCol="0">
            <a:spAutoFit/>
          </a:bodyPr>
          <a:p>
            <a:r>
              <a:rPr lang="en-US" b="1"/>
              <a:t>Insight:</a:t>
            </a:r>
            <a:endParaRPr lang="en-US"/>
          </a:p>
          <a:p>
            <a:pPr marL="285750" indent="-285750">
              <a:lnSpc>
                <a:spcPct val="110000"/>
              </a:lnSpc>
              <a:buFont typeface="Arial" panose="020B0604020202020204" pitchFamily="34" charset="0"/>
              <a:buChar char="•"/>
            </a:pPr>
            <a:r>
              <a:rPr lang="en-US"/>
              <a:t> Total  time spend on calls by agents(according to given assuptions)  =7.5*60%(occupancy)  =4.5</a:t>
            </a:r>
            <a:endParaRPr lang="en-US"/>
          </a:p>
          <a:p>
            <a:pPr marL="285750" indent="-285750">
              <a:lnSpc>
                <a:spcPct val="110000"/>
              </a:lnSpc>
              <a:buFont typeface="Arial" panose="020B0604020202020204" pitchFamily="34" charset="0"/>
              <a:buChar char="•"/>
            </a:pPr>
            <a:r>
              <a:rPr lang="en-US"/>
              <a:t>(1st Jan)Average call duration is 676664.sec  </a:t>
            </a:r>
            <a:endParaRPr lang="en-US"/>
          </a:p>
          <a:p>
            <a:pPr marL="285750" indent="-285750">
              <a:lnSpc>
                <a:spcPct val="110000"/>
              </a:lnSpc>
              <a:buFont typeface="Arial" panose="020B0604020202020204" pitchFamily="34" charset="0"/>
              <a:buChar char="•"/>
            </a:pPr>
            <a:r>
              <a:rPr lang="en-US"/>
              <a:t>Average call duration in hrs is 188.hr</a:t>
            </a:r>
            <a:endParaRPr lang="en-US"/>
          </a:p>
          <a:p>
            <a:pPr marL="285750" indent="-285750">
              <a:lnSpc>
                <a:spcPct val="110000"/>
              </a:lnSpc>
              <a:buFont typeface="Arial" panose="020B0604020202020204" pitchFamily="34" charset="0"/>
              <a:buChar char="•"/>
            </a:pPr>
            <a:r>
              <a:rPr lang="en-US"/>
              <a:t>No of agents attending 60% calls= Avg call duration/total time spend on call by agents=42.</a:t>
            </a:r>
            <a:endParaRPr lang="en-US"/>
          </a:p>
          <a:p>
            <a:pPr marL="285750" indent="-285750">
              <a:lnSpc>
                <a:spcPct val="110000"/>
              </a:lnSpc>
              <a:buFont typeface="Arial" panose="020B0604020202020204" pitchFamily="34" charset="0"/>
              <a:buChar char="•"/>
            </a:pPr>
            <a:r>
              <a:rPr lang="en-US"/>
              <a:t>No of agents required to attend 90% call= 90*42/60=63.</a:t>
            </a:r>
            <a:endParaRPr lang="en-US"/>
          </a:p>
          <a:p>
            <a:pPr marL="285750" indent="-285750">
              <a:lnSpc>
                <a:spcPct val="110000"/>
              </a:lnSpc>
              <a:buFont typeface="Arial" panose="020B0604020202020204" pitchFamily="34" charset="0"/>
              <a:buChar char="•"/>
            </a:pPr>
            <a:r>
              <a:rPr lang="en-US"/>
              <a:t>Formula that I have used to find number of agent first count the call percectage then convert it into decimal then multiply with the total agents required.</a:t>
            </a:r>
            <a:endParaRPr lang="en-US"/>
          </a:p>
          <a:p>
            <a:pPr marL="285750" indent="-285750">
              <a:lnSpc>
                <a:spcPct val="110000"/>
              </a:lnSpc>
              <a:buFont typeface="Arial" panose="020B0604020202020204" pitchFamily="34" charset="0"/>
              <a:buChar char="•"/>
            </a:pPr>
            <a:endParaRPr lang="en-US"/>
          </a:p>
        </p:txBody>
      </p:sp>
      <p:pic>
        <p:nvPicPr>
          <p:cNvPr id="4" name="Picture 3"/>
          <p:cNvPicPr>
            <a:picLocks noChangeAspect="1"/>
          </p:cNvPicPr>
          <p:nvPr/>
        </p:nvPicPr>
        <p:blipFill>
          <a:blip r:embed="rId1"/>
          <a:stretch>
            <a:fillRect/>
          </a:stretch>
        </p:blipFill>
        <p:spPr>
          <a:xfrm>
            <a:off x="1002030" y="961390"/>
            <a:ext cx="8870950" cy="27895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23215" y="1167130"/>
            <a:ext cx="10813415" cy="1715135"/>
          </a:xfrm>
          <a:prstGeom prst="rect">
            <a:avLst/>
          </a:prstGeom>
          <a:noFill/>
        </p:spPr>
        <p:txBody>
          <a:bodyPr wrap="square" rtlCol="0">
            <a:noAutofit/>
          </a:bodyPr>
          <a:p>
            <a:r>
              <a:rPr lang="en-US" b="1"/>
              <a:t>Night Shift Manpower Planning:</a:t>
            </a:r>
            <a:r>
              <a:rPr lang="en-US"/>
              <a:t> Customers also call ABC Insurance Company at night but don't get an answer because there are no agents available. This creates a poor customer experience. Assume that for every 100 calls that customers make between 9 am and 9 pm, they also make 30 calls at night between 9 pm and 9 am. The distribution of these 30 calls is as follows:</a:t>
            </a:r>
            <a:endParaRPr lang="en-US"/>
          </a:p>
          <a:p>
            <a:r>
              <a:rPr lang="en-US"/>
              <a:t>Your Task: Propose a manpower plan for each time bucket throughout the day, keeping the maximum abandon rate at 10%.</a:t>
            </a:r>
            <a:endParaRPr lang="en-US"/>
          </a:p>
        </p:txBody>
      </p:sp>
      <p:pic>
        <p:nvPicPr>
          <p:cNvPr id="4" name="Picture 3"/>
          <p:cNvPicPr>
            <a:picLocks noChangeAspect="1"/>
          </p:cNvPicPr>
          <p:nvPr/>
        </p:nvPicPr>
        <p:blipFill>
          <a:blip r:embed="rId1"/>
          <a:stretch>
            <a:fillRect/>
          </a:stretch>
        </p:blipFill>
        <p:spPr>
          <a:xfrm>
            <a:off x="730250" y="3007360"/>
            <a:ext cx="10406380" cy="3556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668655" y="3289300"/>
            <a:ext cx="10976610" cy="3157220"/>
          </a:xfrm>
          <a:prstGeom prst="rect">
            <a:avLst/>
          </a:prstGeom>
          <a:noFill/>
        </p:spPr>
        <p:txBody>
          <a:bodyPr wrap="square" rtlCol="0">
            <a:noAutofit/>
          </a:bodyPr>
          <a:p>
            <a:pPr indent="0">
              <a:buFont typeface="Arial" panose="020B0604020202020204" pitchFamily="34" charset="0"/>
              <a:buNone/>
            </a:pPr>
            <a:r>
              <a:rPr lang="en-US" b="1"/>
              <a:t>Insight:</a:t>
            </a:r>
            <a:endParaRPr lang="en-US" b="1"/>
          </a:p>
          <a:p>
            <a:pPr marL="285750" indent="-285750">
              <a:lnSpc>
                <a:spcPct val="110000"/>
              </a:lnSpc>
              <a:buFont typeface="Arial" panose="020B0604020202020204" pitchFamily="34" charset="0"/>
              <a:buChar char="•"/>
            </a:pPr>
            <a:r>
              <a:rPr lang="en-US"/>
              <a:t>we  know  that  total  average  calls  between  9  am  to  9  pm  is 3643.sec.</a:t>
            </a:r>
            <a:endParaRPr lang="en-US"/>
          </a:p>
          <a:p>
            <a:pPr marL="285750" indent="-285750">
              <a:lnSpc>
                <a:spcPct val="110000"/>
              </a:lnSpc>
              <a:buFont typeface="Arial" panose="020B0604020202020204" pitchFamily="34" charset="0"/>
              <a:buChar char="•"/>
            </a:pPr>
            <a:r>
              <a:rPr lang="en-US"/>
              <a:t>so we can say no of call between 9 pm to 9 am is 3643*30/100. That is 1093.sec.</a:t>
            </a:r>
            <a:endParaRPr lang="en-US"/>
          </a:p>
          <a:p>
            <a:pPr marL="285750" indent="-285750">
              <a:lnSpc>
                <a:spcPct val="110000"/>
              </a:lnSpc>
              <a:buFont typeface="Arial" panose="020B0604020202020204" pitchFamily="34" charset="0"/>
              <a:buChar char="•"/>
            </a:pPr>
            <a:r>
              <a:rPr lang="en-US"/>
              <a:t>Time to answer 90% of calls in hrs =(total avg calls * total  avg  duration * 90%)/3600(convert sec into hrs) =(1093*196*90/100)/3600 =54</a:t>
            </a:r>
            <a:endParaRPr lang="en-US"/>
          </a:p>
          <a:p>
            <a:pPr marL="285750" indent="-285750">
              <a:lnSpc>
                <a:spcPct val="110000"/>
              </a:lnSpc>
              <a:buFont typeface="Arial" panose="020B0604020202020204" pitchFamily="34" charset="0"/>
              <a:buChar char="•"/>
            </a:pPr>
            <a:r>
              <a:rPr lang="en-US"/>
              <a:t>So number of person required in night =total call time/total time spend on calls </a:t>
            </a:r>
            <a:endParaRPr lang="en-US"/>
          </a:p>
          <a:p>
            <a:pPr indent="0">
              <a:lnSpc>
                <a:spcPct val="110000"/>
              </a:lnSpc>
              <a:buFont typeface="Arial" panose="020B0604020202020204" pitchFamily="34" charset="0"/>
              <a:buNone/>
            </a:pPr>
            <a:r>
              <a:rPr lang="en-US"/>
              <a:t>      =54/4.5 =12</a:t>
            </a:r>
            <a:endParaRPr lang="en-US"/>
          </a:p>
          <a:p>
            <a:pPr marL="285750" indent="-285750">
              <a:lnSpc>
                <a:spcPct val="110000"/>
              </a:lnSpc>
              <a:buFont typeface="Arial" panose="020B0604020202020204" pitchFamily="34" charset="0"/>
              <a:buChar char="•"/>
            </a:pPr>
            <a:r>
              <a:rPr lang="en-US">
                <a:sym typeface="+mn-ea"/>
              </a:rPr>
              <a:t>Formula that I have used to find number of agent first count the call percectage then convert it into decimal then multiply with the total agents required.</a:t>
            </a:r>
            <a:endParaRPr lang="en-US"/>
          </a:p>
          <a:p>
            <a:pPr marL="285750" indent="-285750">
              <a:lnSpc>
                <a:spcPct val="110000"/>
              </a:lnSpc>
              <a:buFont typeface="Arial" panose="020B0604020202020204" pitchFamily="34" charset="0"/>
              <a:buChar char="•"/>
            </a:pPr>
            <a:endParaRPr lang="en-US"/>
          </a:p>
          <a:p>
            <a:endParaRPr lang="en-US"/>
          </a:p>
        </p:txBody>
      </p:sp>
      <p:pic>
        <p:nvPicPr>
          <p:cNvPr id="6" name="Picture 5"/>
          <p:cNvPicPr>
            <a:picLocks noChangeAspect="1"/>
          </p:cNvPicPr>
          <p:nvPr/>
        </p:nvPicPr>
        <p:blipFill>
          <a:blip r:embed="rId1"/>
          <a:stretch>
            <a:fillRect/>
          </a:stretch>
        </p:blipFill>
        <p:spPr>
          <a:xfrm>
            <a:off x="753745" y="276860"/>
            <a:ext cx="10221595" cy="27654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71170" y="1106805"/>
            <a:ext cx="10720705" cy="3150235"/>
          </a:xfrm>
          <a:prstGeom prst="rect">
            <a:avLst/>
          </a:prstGeom>
          <a:noFill/>
        </p:spPr>
        <p:txBody>
          <a:bodyPr wrap="square" rtlCol="0">
            <a:noAutofit/>
          </a:bodyPr>
          <a:p>
            <a:r>
              <a:rPr lang="en-US" sz="2000" b="1"/>
              <a:t>Result:</a:t>
            </a:r>
            <a:endParaRPr lang="en-US" sz="2000" b="1"/>
          </a:p>
          <a:p>
            <a:pPr>
              <a:lnSpc>
                <a:spcPct val="110000"/>
              </a:lnSpc>
            </a:pPr>
            <a:r>
              <a:rPr lang="en-US"/>
              <a:t>After doing this project, I get to know pivot table more. Pivot helps to compare columns and makes calculation more simple also helps in grouping.</a:t>
            </a:r>
            <a:endParaRPr lang="en-US"/>
          </a:p>
          <a:p>
            <a:pPr>
              <a:lnSpc>
                <a:spcPct val="110000"/>
              </a:lnSpc>
            </a:pPr>
            <a:r>
              <a:rPr lang="en-US"/>
              <a:t>In  this  project  ABC  Call  Volume  Trend  Analysis  we  analysis customer  experience.  A  customer  experience    team  consists  of professionals who analyse customer feedback and data, and share insights with the rest of the organization. Keep a good customer relationship that help  business  for  future  growth.  The  project  done  through  using wps office  excel.  So  it  help  me  to  increase  my  technical  skills  and knowledge in excel. In this analysis project I have analysis the customer relationship,  to  solve  customer  problem  that  keep  good  relationship between the business and customer. After doing this project this help me to improve my data analytical skills, visualization skills etc.</a:t>
            </a:r>
            <a:endParaRPr lang="en-US"/>
          </a:p>
        </p:txBody>
      </p:sp>
      <p:sp>
        <p:nvSpPr>
          <p:cNvPr id="4" name="Text Box 3"/>
          <p:cNvSpPr txBox="1"/>
          <p:nvPr/>
        </p:nvSpPr>
        <p:spPr>
          <a:xfrm>
            <a:off x="568325" y="5288915"/>
            <a:ext cx="9873615" cy="645160"/>
          </a:xfrm>
          <a:prstGeom prst="rect">
            <a:avLst/>
          </a:prstGeom>
          <a:noFill/>
        </p:spPr>
        <p:txBody>
          <a:bodyPr wrap="square" rtlCol="0">
            <a:spAutoFit/>
          </a:bodyPr>
          <a:p>
            <a:r>
              <a:rPr lang="en-US">
                <a:hlinkClick r:id="rId1" tooltip="" action="ppaction://hlinkfile"/>
              </a:rPr>
              <a:t>https://docs.google.com/spreadsheets/d/1UbPxiJcxGFGGoGDDov4ChpXj0B0Bidru/edit?usp=drivesdk&amp;ouid=111398243446314990339&amp;rtpof=true&amp;sd=true</a:t>
            </a:r>
            <a:endParaRPr lang="en-US"/>
          </a:p>
        </p:txBody>
      </p:sp>
      <p:sp>
        <p:nvSpPr>
          <p:cNvPr id="5" name="Text Box 4"/>
          <p:cNvSpPr txBox="1"/>
          <p:nvPr/>
        </p:nvSpPr>
        <p:spPr>
          <a:xfrm>
            <a:off x="568325" y="4808855"/>
            <a:ext cx="4064000" cy="368300"/>
          </a:xfrm>
          <a:prstGeom prst="rect">
            <a:avLst/>
          </a:prstGeom>
          <a:noFill/>
        </p:spPr>
        <p:txBody>
          <a:bodyPr wrap="square" rtlCol="0">
            <a:spAutoFit/>
          </a:bodyPr>
          <a:p>
            <a:r>
              <a:rPr lang="en-US" b="1"/>
              <a:t>Link for Excel sheet:</a:t>
            </a:r>
            <a:endParaRPr lang="en-US" b="1"/>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heme/theme1.xml><?xml version="1.0" encoding="utf-8"?>
<a:theme xmlns:a="http://schemas.openxmlformats.org/drawingml/2006/main" name="Data Pie Charts">
  <a:themeElements>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fontScheme name="Data Pie Chart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Data Pie Char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ata Pie Chart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ata Pie Chart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ata Pie Chart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ata Pie Chart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ata Pie Chart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ata Pie Chart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ata Pie Chart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ata Pie Chart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ata Pie Chart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ata Pie Chart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ata Pie Chart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5560</Words>
  <Application>WPS Presentation</Application>
  <PresentationFormat>Widescreen</PresentationFormat>
  <Paragraphs>79</Paragraphs>
  <Slides>11</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11</vt:i4>
      </vt:variant>
    </vt:vector>
  </HeadingPairs>
  <TitlesOfParts>
    <vt:vector size="18" baseType="lpstr">
      <vt:lpstr>Arial</vt:lpstr>
      <vt:lpstr>SimSun</vt:lpstr>
      <vt:lpstr>Wingdings</vt:lpstr>
      <vt:lpstr>Microsoft YaHei</vt:lpstr>
      <vt:lpstr>Arial Unicode MS</vt:lpstr>
      <vt:lpstr>Calibri</vt:lpstr>
      <vt:lpstr>Data Pie Charts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sonal</cp:lastModifiedBy>
  <cp:revision>10</cp:revision>
  <dcterms:created xsi:type="dcterms:W3CDTF">2023-09-18T07:00:00Z</dcterms:created>
  <dcterms:modified xsi:type="dcterms:W3CDTF">2023-09-19T06:06:26Z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4159D325BFAA43E8A7998B883E0B1AC4_11</vt:lpwstr>
  </property>
  <property fmtid="{D5CDD505-2E9C-101B-9397-08002B2CF9AE}" pid="3" name="KSOProductBuildVer">
    <vt:lpwstr>1033-12.2.0.13215</vt:lpwstr>
  </property>
</Properties>
</file>