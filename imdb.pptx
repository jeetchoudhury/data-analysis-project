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86" r:id="rId4"/>
    <p:sldId id="285" r:id="rId5"/>
    <p:sldId id="284" r:id="rId6"/>
    <p:sldId id="283" r:id="rId7"/>
    <p:sldId id="282" r:id="rId8"/>
    <p:sldId id="281" r:id="rId9"/>
    <p:sldId id="280" r:id="rId10"/>
    <p:sldId id="27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docs.google.com/spreadsheets/d/1I2NxHaF2NpLdkRkEIlSW9Ylu2JtYELdA/edit?usp=drivesdk&amp;ouid=111398243446314990339&amp;rtpof=true&amp;sd=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796665" y="307975"/>
            <a:ext cx="4064000" cy="829945"/>
          </a:xfrm>
          <a:prstGeom prst="rect">
            <a:avLst/>
          </a:prstGeom>
          <a:noFill/>
        </p:spPr>
        <p:txBody>
          <a:bodyPr wrap="square" rtlCol="0">
            <a:spAutoFit/>
          </a:bodyPr>
          <a:p>
            <a:pPr algn="ctr"/>
            <a:r>
              <a:rPr lang="en-US" sz="2400" b="1"/>
              <a:t>IMDB Movie Analysis</a:t>
            </a:r>
            <a:endParaRPr lang="en-US" sz="2400" b="1"/>
          </a:p>
          <a:p>
            <a:pPr algn="ctr"/>
            <a:r>
              <a:rPr lang="en-US" sz="2400" b="1"/>
              <a:t>Final Project-1</a:t>
            </a:r>
            <a:endParaRPr lang="en-US" sz="2400" b="1"/>
          </a:p>
        </p:txBody>
      </p:sp>
      <p:sp>
        <p:nvSpPr>
          <p:cNvPr id="5" name="Text Box 4"/>
          <p:cNvSpPr txBox="1"/>
          <p:nvPr/>
        </p:nvSpPr>
        <p:spPr>
          <a:xfrm>
            <a:off x="493395" y="1930400"/>
            <a:ext cx="10718800" cy="5077460"/>
          </a:xfrm>
          <a:prstGeom prst="rect">
            <a:avLst/>
          </a:prstGeom>
          <a:noFill/>
        </p:spPr>
        <p:txBody>
          <a:bodyPr wrap="square" rtlCol="0">
            <a:spAutoFit/>
          </a:bodyPr>
          <a:p>
            <a:r>
              <a:rPr lang="en-US" b="1">
                <a:sym typeface="+mn-ea"/>
              </a:rPr>
              <a:t>Project Description</a:t>
            </a:r>
            <a:r>
              <a:rPr lang="en-IN" altLang="en-US" b="1">
                <a:sym typeface="+mn-ea"/>
              </a:rPr>
              <a:t> </a:t>
            </a:r>
            <a:r>
              <a:rPr lang="en-US" altLang="en-IN" b="1">
                <a:sym typeface="+mn-ea"/>
              </a:rPr>
              <a:t>:</a:t>
            </a:r>
            <a:endParaRPr lang="en-US"/>
          </a:p>
          <a:p>
            <a:r>
              <a:rPr lang="en-US"/>
              <a:t>A. Movie Genre Analysis: Analyze the distribution of movie genres and their impact on the IMDB score.</a:t>
            </a:r>
            <a:endParaRPr lang="en-US"/>
          </a:p>
          <a:p>
            <a:endParaRPr lang="en-US"/>
          </a:p>
          <a:p>
            <a:r>
              <a:rPr lang="en-US"/>
              <a:t>Task: Determine the most common genres of movies in the dataset. Then, for each genre, calculate descriptive statistics (mean, median, mode, range, variance, standard deviation) of the IMDB scores.</a:t>
            </a:r>
            <a:endParaRPr lang="en-US"/>
          </a:p>
          <a:p>
            <a:r>
              <a:rPr lang="en-IN" altLang="en-US" b="1">
                <a:sym typeface="+mn-ea"/>
              </a:rPr>
              <a:t>Approach:</a:t>
            </a:r>
            <a:endParaRPr lang="en-IN" altLang="en-US" b="1">
              <a:sym typeface="+mn-ea"/>
            </a:endParaRPr>
          </a:p>
          <a:p>
            <a:pPr marL="285750" indent="-285750">
              <a:buFont typeface="Arial" panose="020B0604020202020204" pitchFamily="34" charset="0"/>
              <a:buChar char="•"/>
            </a:pPr>
            <a:r>
              <a:rPr lang="en-US"/>
              <a:t>First i created a pivot table with the given data.</a:t>
            </a:r>
            <a:endParaRPr lang="en-US"/>
          </a:p>
          <a:p>
            <a:pPr marL="285750" indent="-285750">
              <a:buFont typeface="Arial" panose="020B0604020202020204" pitchFamily="34" charset="0"/>
              <a:buChar char="•"/>
            </a:pPr>
            <a:r>
              <a:rPr lang="en-US"/>
              <a:t>then add genre to row lable and again genre to value lable to count , because by counting the genre we can get the genre distribution like we can known how many movie of that genre are present.</a:t>
            </a:r>
            <a:endParaRPr lang="en-US"/>
          </a:p>
          <a:p>
            <a:pPr marL="285750" indent="-285750">
              <a:buFont typeface="Arial" panose="020B0604020202020204" pitchFamily="34" charset="0"/>
              <a:buChar char="•"/>
            </a:pPr>
            <a:r>
              <a:rPr lang="en-US"/>
              <a:t>then i created another pivot table ,because so,if i manipulate the data it does not affect the whole data that i have extracted.</a:t>
            </a:r>
            <a:endParaRPr lang="en-US"/>
          </a:p>
          <a:p>
            <a:pPr marL="285750" indent="-285750">
              <a:buFont typeface="Arial" panose="020B0604020202020204" pitchFamily="34" charset="0"/>
              <a:buChar char="•"/>
            </a:pPr>
            <a:r>
              <a:rPr lang="en-US"/>
              <a:t>then i added the genre to row lable and genre to value lable to count and filtered the genre to get the common genre of movies,so that the movie with multiple genre does not be counted more than once.</a:t>
            </a:r>
            <a:endParaRPr lang="en-US"/>
          </a:p>
          <a:p>
            <a:pPr marL="285750" indent="-285750">
              <a:buFont typeface="Arial" panose="020B0604020202020204" pitchFamily="34" charset="0"/>
              <a:buChar char="•"/>
            </a:pPr>
            <a:r>
              <a:rPr lang="en-US"/>
              <a:t>then i added the imdb score to row lable to get the imdb score of my filtered genre and calculated the descriptive statistic like mean,max,min,variance and standard deviation as this function was present in the value lable.</a:t>
            </a:r>
            <a:endParaRPr lang="en-US"/>
          </a:p>
          <a:p>
            <a:pPr marL="285750" indent="-285750">
              <a:buFont typeface="Arial" panose="020B0604020202020204" pitchFamily="34" charset="0"/>
              <a:buChar char="•"/>
            </a:pPr>
            <a:r>
              <a:rPr lang="en-US"/>
              <a:t>then to find the median and mode i had to manually entered the formula for the imdb score.  </a:t>
            </a:r>
            <a:endParaRPr lang="en-US"/>
          </a:p>
          <a:p>
            <a:endParaRPr lang="en-US"/>
          </a:p>
        </p:txBody>
      </p:sp>
      <p:sp>
        <p:nvSpPr>
          <p:cNvPr id="6" name="Text Box 5"/>
          <p:cNvSpPr txBox="1"/>
          <p:nvPr/>
        </p:nvSpPr>
        <p:spPr>
          <a:xfrm>
            <a:off x="493395" y="1137920"/>
            <a:ext cx="9154160" cy="922020"/>
          </a:xfrm>
          <a:prstGeom prst="rect">
            <a:avLst/>
          </a:prstGeom>
          <a:noFill/>
        </p:spPr>
        <p:txBody>
          <a:bodyPr wrap="square" rtlCol="0">
            <a:spAutoFit/>
          </a:bodyPr>
          <a:p>
            <a:r>
              <a:rPr lang="en-US" b="1">
                <a:sym typeface="+mn-ea"/>
              </a:rPr>
              <a:t>Tech-Stack Used</a:t>
            </a:r>
            <a:r>
              <a:rPr lang="en-IN" altLang="en-US" b="1">
                <a:sym typeface="+mn-ea"/>
              </a:rPr>
              <a:t> :</a:t>
            </a:r>
            <a:endParaRPr lang="en-IN" altLang="en-US" b="1"/>
          </a:p>
          <a:p>
            <a:r>
              <a:rPr lang="en-IN" altLang="en-US" b="1">
                <a:sym typeface="+mn-ea"/>
              </a:rPr>
              <a:t>APP</a:t>
            </a:r>
            <a:r>
              <a:rPr lang="en-IN" altLang="en-US">
                <a:sym typeface="+mn-ea"/>
              </a:rPr>
              <a:t>-WPS OFFICE, </a:t>
            </a:r>
            <a:r>
              <a:rPr lang="en-IN" altLang="en-US" b="1">
                <a:sym typeface="+mn-ea"/>
              </a:rPr>
              <a:t>Product Version</a:t>
            </a:r>
            <a:r>
              <a:rPr lang="en-IN" altLang="en-US">
                <a:sym typeface="+mn-ea"/>
              </a:rPr>
              <a:t>-12.2.0.13085 ,</a:t>
            </a:r>
            <a:r>
              <a:rPr lang="en-IN" altLang="en-US" b="1">
                <a:sym typeface="+mn-ea"/>
              </a:rPr>
              <a:t>Publisher</a:t>
            </a:r>
            <a:r>
              <a:rPr lang="en-IN" altLang="en-US">
                <a:sym typeface="+mn-ea"/>
              </a:rPr>
              <a:t>-Kingsoft corp.</a:t>
            </a:r>
            <a:endParaRPr lang="en-IN" altLang="en-US"/>
          </a:p>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8175" y="288925"/>
            <a:ext cx="10970260" cy="3969385"/>
          </a:xfrm>
          <a:prstGeom prst="rect">
            <a:avLst/>
          </a:prstGeom>
          <a:noFill/>
        </p:spPr>
        <p:txBody>
          <a:bodyPr wrap="square" rtlCol="0">
            <a:spAutoFit/>
          </a:bodyPr>
          <a:p>
            <a:pPr marL="285750" indent="-285750">
              <a:buFont typeface="Arial" panose="020B0604020202020204" pitchFamily="34" charset="0"/>
              <a:buChar char="•"/>
            </a:pPr>
            <a:r>
              <a:rPr lang="en-US"/>
              <a:t>To calculate the median the function i used was syntax: =MEDIAN(SELECT THE RANGE OF WHICH WE WANT TO FIND THE MEDIAN) AND PRESS ENTER.</a:t>
            </a:r>
            <a:endParaRPr lang="en-US"/>
          </a:p>
          <a:p>
            <a:pPr marL="285750" indent="-285750">
              <a:buFont typeface="Arial" panose="020B0604020202020204" pitchFamily="34" charset="0"/>
              <a:buChar char="•"/>
            </a:pPr>
            <a:r>
              <a:rPr lang="en-US"/>
              <a:t>tO FIND  the mode from pivot table is little complicate because we cannot use mode function because mode calculates the higest repeated value and when we add the imdb score value to row lable it merges all the repeated value automatically.</a:t>
            </a:r>
            <a:endParaRPr lang="en-US"/>
          </a:p>
          <a:p>
            <a:pPr marL="285750" indent="-285750">
              <a:buFont typeface="Arial" panose="020B0604020202020204" pitchFamily="34" charset="0"/>
              <a:buChar char="•"/>
            </a:pPr>
            <a:r>
              <a:rPr lang="en-US"/>
              <a:t>So to get the mode i used INDEX,MATCH,IF &amp; MAX function to get the desire result ,so to get the mode i first created another pivot chart having genre ,imdb score and count of imdb score and perform my calculation to get the mode.</a:t>
            </a:r>
            <a:endParaRPr lang="en-US"/>
          </a:p>
          <a:p>
            <a:pPr marL="285750" indent="-285750">
              <a:buFont typeface="Arial" panose="020B0604020202020204" pitchFamily="34" charset="0"/>
              <a:buChar char="•"/>
            </a:pPr>
            <a:r>
              <a:rPr lang="en-US"/>
              <a:t>so to get the mode i used this function </a:t>
            </a:r>
            <a:endParaRPr lang="en-US"/>
          </a:p>
          <a:p>
            <a:pPr marL="285750" indent="-285750">
              <a:buFont typeface="Arial" panose="020B0604020202020204" pitchFamily="34" charset="0"/>
              <a:buChar char="•"/>
            </a:pPr>
            <a:r>
              <a:rPr lang="en-US"/>
              <a:t>Syntax: =INDEX(RANGE OF IMDB SCORE,MATCH(IF(MAX(RANGE OF IMDB COUNT)&gt;1,MAX(RANGE OF IMDB COUNT),FALSE),RANGE OF IMDB COUNT,0))</a:t>
            </a:r>
            <a:endParaRPr lang="en-US"/>
          </a:p>
          <a:p>
            <a:pPr marL="285750" indent="-285750">
              <a:buFont typeface="Arial" panose="020B0604020202020204" pitchFamily="34" charset="0"/>
              <a:buChar char="•"/>
            </a:pPr>
            <a:r>
              <a:rPr lang="en-US"/>
              <a:t>This function will show the imdb score of higest no of occuring,which is called mode of imdb score.</a:t>
            </a:r>
            <a:endParaRPr lang="en-US"/>
          </a:p>
          <a:p>
            <a:pPr indent="0">
              <a:buNone/>
            </a:pPr>
            <a:r>
              <a:rPr lang="en-US" b="1"/>
              <a:t>Insight:</a:t>
            </a:r>
            <a:endParaRPr lang="en-US" b="1"/>
          </a:p>
          <a:p>
            <a:pPr indent="0">
              <a:buNone/>
            </a:pPr>
            <a:r>
              <a:rPr lang="en-US"/>
              <a:t>from the statistic i get to know that drama genre got the average higest imdb score as compare to other genre.</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48790" y="928370"/>
            <a:ext cx="4064000" cy="368300"/>
          </a:xfrm>
          <a:prstGeom prst="rect">
            <a:avLst/>
          </a:prstGeom>
          <a:noFill/>
        </p:spPr>
        <p:txBody>
          <a:bodyPr wrap="square" rtlCol="0">
            <a:spAutoFit/>
          </a:bodyPr>
          <a:p>
            <a:endParaRPr lang="en-US"/>
          </a:p>
        </p:txBody>
      </p:sp>
      <p:pic>
        <p:nvPicPr>
          <p:cNvPr id="3" name="Picture 2" descr="Screenshot 2023-08-04 135948"/>
          <p:cNvPicPr>
            <a:picLocks noChangeAspect="1"/>
          </p:cNvPicPr>
          <p:nvPr/>
        </p:nvPicPr>
        <p:blipFill>
          <a:blip r:embed="rId1"/>
          <a:stretch>
            <a:fillRect/>
          </a:stretch>
        </p:blipFill>
        <p:spPr>
          <a:xfrm>
            <a:off x="46355" y="403225"/>
            <a:ext cx="12146280" cy="62858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4670" y="372745"/>
            <a:ext cx="11256010" cy="4523105"/>
          </a:xfrm>
          <a:prstGeom prst="rect">
            <a:avLst/>
          </a:prstGeom>
          <a:noFill/>
        </p:spPr>
        <p:txBody>
          <a:bodyPr wrap="square" rtlCol="0">
            <a:spAutoFit/>
          </a:bodyPr>
          <a:p>
            <a:r>
              <a:rPr lang="en-US"/>
              <a:t>B. Movie Duration Analysis: Analyze the distribution of movie durations and its impact on the IMDB score.</a:t>
            </a:r>
            <a:endParaRPr lang="en-US"/>
          </a:p>
          <a:p>
            <a:endParaRPr lang="en-US"/>
          </a:p>
          <a:p>
            <a:r>
              <a:rPr lang="en-US"/>
              <a:t>Task: Analyze the distribution of movie durations and identify the relationship between movie duration and IMDB score.</a:t>
            </a:r>
            <a:endParaRPr lang="en-US"/>
          </a:p>
          <a:p>
            <a:r>
              <a:rPr lang="en-IN" altLang="en-US" b="1">
                <a:sym typeface="+mn-ea"/>
              </a:rPr>
              <a:t>Approach:</a:t>
            </a:r>
            <a:endParaRPr lang="en-IN" altLang="en-US" b="1">
              <a:sym typeface="+mn-ea"/>
            </a:endParaRPr>
          </a:p>
          <a:p>
            <a:pPr marL="285750" indent="-285750">
              <a:buFont typeface="Arial" panose="020B0604020202020204" pitchFamily="34" charset="0"/>
              <a:buChar char="•"/>
            </a:pPr>
            <a:r>
              <a:rPr lang="en-US" altLang="en-IN">
                <a:sym typeface="+mn-ea"/>
              </a:rPr>
              <a:t>First i created 2 pivot table.</a:t>
            </a:r>
            <a:endParaRPr lang="en-US" altLang="en-IN">
              <a:sym typeface="+mn-ea"/>
            </a:endParaRPr>
          </a:p>
          <a:p>
            <a:pPr marL="285750" indent="-285750">
              <a:buFont typeface="Arial" panose="020B0604020202020204" pitchFamily="34" charset="0"/>
              <a:buChar char="•"/>
            </a:pPr>
            <a:r>
              <a:rPr lang="en-US" altLang="en-IN">
                <a:sym typeface="+mn-ea"/>
              </a:rPr>
              <a:t>in first pivot table i added duration and the imdb score and filtered the blank data.</a:t>
            </a:r>
            <a:endParaRPr lang="en-US" altLang="en-IN">
              <a:sym typeface="+mn-ea"/>
            </a:endParaRPr>
          </a:p>
          <a:p>
            <a:pPr marL="285750" indent="-285750">
              <a:buFont typeface="Arial" panose="020B0604020202020204" pitchFamily="34" charset="0"/>
              <a:buChar char="•"/>
            </a:pPr>
            <a:r>
              <a:rPr lang="en-US" altLang="en-IN">
                <a:sym typeface="+mn-ea"/>
              </a:rPr>
              <a:t>and then calculated the mean median and standard deviation on the imdb score of different duration .</a:t>
            </a:r>
            <a:endParaRPr lang="en-US" altLang="en-IN">
              <a:sym typeface="+mn-ea"/>
            </a:endParaRPr>
          </a:p>
          <a:p>
            <a:pPr marL="285750" indent="-285750">
              <a:buFont typeface="Arial" panose="020B0604020202020204" pitchFamily="34" charset="0"/>
              <a:buChar char="•"/>
            </a:pPr>
            <a:r>
              <a:rPr lang="en-US" altLang="en-IN">
                <a:sym typeface="+mn-ea"/>
              </a:rPr>
              <a:t>and then on another pivot table i added duration and imdb score and calculate the average imdb score of duration.</a:t>
            </a:r>
            <a:endParaRPr lang="en-US" altLang="en-IN">
              <a:sym typeface="+mn-ea"/>
            </a:endParaRPr>
          </a:p>
          <a:p>
            <a:pPr marL="285750" indent="-285750">
              <a:buFont typeface="Arial" panose="020B0604020202020204" pitchFamily="34" charset="0"/>
              <a:buChar char="•"/>
            </a:pPr>
            <a:r>
              <a:rPr lang="en-US" altLang="en-IN">
                <a:sym typeface="+mn-ea"/>
              </a:rPr>
              <a:t>And then i added the pivot chart with trendline to the second pivot table  to known the relation between duration and imdb score.</a:t>
            </a:r>
            <a:endParaRPr lang="en-US" altLang="en-IN">
              <a:sym typeface="+mn-ea"/>
            </a:endParaRPr>
          </a:p>
          <a:p>
            <a:pPr indent="0">
              <a:buNone/>
            </a:pPr>
            <a:r>
              <a:rPr lang="en-US" altLang="en-IN" b="1">
                <a:sym typeface="+mn-ea"/>
              </a:rPr>
              <a:t>Insight:</a:t>
            </a:r>
            <a:endParaRPr lang="en-US" altLang="en-IN" b="1">
              <a:sym typeface="+mn-ea"/>
            </a:endParaRPr>
          </a:p>
          <a:p>
            <a:pPr indent="0">
              <a:buNone/>
            </a:pPr>
            <a:r>
              <a:rPr lang="en-US" altLang="en-IN">
                <a:sym typeface="+mn-ea"/>
              </a:rPr>
              <a:t>Here after seeing the chart i got to know that ,it doest not mean if the duration is high then the movie will get higher imdb score . </a:t>
            </a:r>
            <a:endParaRPr lang="en-US" altLang="en-IN" b="1">
              <a:sym typeface="+mn-ea"/>
            </a:endParaRPr>
          </a:p>
          <a:p>
            <a:pPr indent="0">
              <a:buNone/>
            </a:pPr>
            <a:endParaRPr lang="en-IN" altLang="en-US" b="1">
              <a:sym typeface="+mn-ea"/>
            </a:endParaRPr>
          </a:p>
          <a:p>
            <a:pPr marL="285750" indent="-285750">
              <a:buFont typeface="Arial" panose="020B0604020202020204" pitchFamily="34" charset="0"/>
              <a:buChar char="•"/>
            </a:pPr>
            <a:endParaRPr lang="en-US"/>
          </a:p>
          <a:p>
            <a:endParaRPr lang="en-US"/>
          </a:p>
        </p:txBody>
      </p:sp>
      <p:pic>
        <p:nvPicPr>
          <p:cNvPr id="3" name="Picture 2" descr="Screenshot 2023-08-04 151719"/>
          <p:cNvPicPr>
            <a:picLocks noChangeAspect="1"/>
          </p:cNvPicPr>
          <p:nvPr/>
        </p:nvPicPr>
        <p:blipFill>
          <a:blip r:embed="rId1"/>
          <a:stretch>
            <a:fillRect/>
          </a:stretch>
        </p:blipFill>
        <p:spPr>
          <a:xfrm>
            <a:off x="1978660" y="3768090"/>
            <a:ext cx="9286240" cy="29711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3-08-04 151835"/>
          <p:cNvPicPr>
            <a:picLocks noChangeAspect="1"/>
          </p:cNvPicPr>
          <p:nvPr/>
        </p:nvPicPr>
        <p:blipFill>
          <a:blip r:embed="rId1"/>
          <a:stretch>
            <a:fillRect/>
          </a:stretch>
        </p:blipFill>
        <p:spPr>
          <a:xfrm>
            <a:off x="847090" y="169545"/>
            <a:ext cx="10775950" cy="61652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6105" y="362585"/>
            <a:ext cx="10956925" cy="3415030"/>
          </a:xfrm>
          <a:prstGeom prst="rect">
            <a:avLst/>
          </a:prstGeom>
          <a:noFill/>
        </p:spPr>
        <p:txBody>
          <a:bodyPr wrap="square" rtlCol="0">
            <a:spAutoFit/>
          </a:bodyPr>
          <a:p>
            <a:r>
              <a:rPr lang="en-US"/>
              <a:t>C. Language Analysis: Situation: Examine the distribution of movies based on their language.</a:t>
            </a:r>
            <a:endParaRPr lang="en-US"/>
          </a:p>
          <a:p>
            <a:endParaRPr lang="en-US"/>
          </a:p>
          <a:p>
            <a:r>
              <a:rPr lang="en-US"/>
              <a:t>Task: Determine the most common languages used in movies and analyze their impact on the IMDB score using descriptive statistics.</a:t>
            </a:r>
            <a:endParaRPr lang="en-US"/>
          </a:p>
          <a:p>
            <a:r>
              <a:rPr lang="en-US" b="1"/>
              <a:t>Approach:</a:t>
            </a:r>
            <a:endParaRPr lang="en-US" b="1"/>
          </a:p>
          <a:p>
            <a:pPr marL="285750" indent="-285750">
              <a:buFont typeface="Arial" panose="020B0604020202020204" pitchFamily="34" charset="0"/>
              <a:buChar char="•"/>
            </a:pPr>
            <a:r>
              <a:rPr lang="en-US"/>
              <a:t>First i created a pivot table .</a:t>
            </a:r>
            <a:endParaRPr lang="en-US"/>
          </a:p>
          <a:p>
            <a:pPr marL="285750" indent="-285750">
              <a:buFont typeface="Arial" panose="020B0604020202020204" pitchFamily="34" charset="0"/>
              <a:buChar char="•"/>
            </a:pPr>
            <a:r>
              <a:rPr lang="en-US"/>
              <a:t>And then added language ,imdb score ,and count of language to get the no of movie of that language.</a:t>
            </a:r>
            <a:endParaRPr lang="en-US"/>
          </a:p>
          <a:p>
            <a:pPr marL="285750" indent="-285750">
              <a:buFont typeface="Arial" panose="020B0604020202020204" pitchFamily="34" charset="0"/>
              <a:buChar char="•"/>
            </a:pPr>
            <a:r>
              <a:rPr lang="en-US"/>
              <a:t>And calculated the mean median &amp; standard deviation on the imdb score i got.</a:t>
            </a:r>
            <a:endParaRPr lang="en-US"/>
          </a:p>
          <a:p>
            <a:pPr marL="285750" indent="-285750">
              <a:buFont typeface="Arial" panose="020B0604020202020204" pitchFamily="34" charset="0"/>
              <a:buChar char="•"/>
            </a:pPr>
            <a:r>
              <a:rPr lang="en-US"/>
              <a:t>And added pivot chart to the pivot table to understand the statistic i got after calculating.</a:t>
            </a:r>
            <a:endParaRPr lang="en-US"/>
          </a:p>
          <a:p>
            <a:pPr indent="0">
              <a:buFont typeface="Arial" panose="020B0604020202020204" pitchFamily="34" charset="0"/>
              <a:buNone/>
            </a:pPr>
            <a:r>
              <a:rPr lang="en-US" b="1"/>
              <a:t>Insight:</a:t>
            </a:r>
            <a:endParaRPr lang="en-US" b="1"/>
          </a:p>
          <a:p>
            <a:pPr indent="0">
              <a:buFont typeface="Arial" panose="020B0604020202020204" pitchFamily="34" charset="0"/>
              <a:buNone/>
            </a:pPr>
            <a:r>
              <a:rPr lang="en-US"/>
              <a:t>After looking at the chart i got to know that english language movie got the higest no of rating as compair to other languages.</a:t>
            </a:r>
            <a:endParaRPr lang="en-US"/>
          </a:p>
        </p:txBody>
      </p:sp>
      <p:pic>
        <p:nvPicPr>
          <p:cNvPr id="3" name="Picture 2" descr="Screenshot 2023-08-04 152941"/>
          <p:cNvPicPr>
            <a:picLocks noChangeAspect="1"/>
          </p:cNvPicPr>
          <p:nvPr/>
        </p:nvPicPr>
        <p:blipFill>
          <a:blip r:embed="rId1"/>
          <a:stretch>
            <a:fillRect/>
          </a:stretch>
        </p:blipFill>
        <p:spPr>
          <a:xfrm>
            <a:off x="1795145" y="3549015"/>
            <a:ext cx="9394825" cy="3093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31800" y="362585"/>
            <a:ext cx="11296650" cy="3138170"/>
          </a:xfrm>
          <a:prstGeom prst="rect">
            <a:avLst/>
          </a:prstGeom>
          <a:noFill/>
        </p:spPr>
        <p:txBody>
          <a:bodyPr wrap="square" rtlCol="0">
            <a:spAutoFit/>
          </a:bodyPr>
          <a:p>
            <a:r>
              <a:rPr lang="en-US"/>
              <a:t>D. Director Analysis: Influence of directors on movie ratings.</a:t>
            </a:r>
            <a:endParaRPr lang="en-US"/>
          </a:p>
          <a:p>
            <a:endParaRPr lang="en-US"/>
          </a:p>
          <a:p>
            <a:r>
              <a:rPr lang="en-US"/>
              <a:t>Task: Identify the top directors based on their average IMDB score and analyze their contribution to the success of movies using percentile calculations.</a:t>
            </a:r>
            <a:endParaRPr lang="en-US"/>
          </a:p>
          <a:p>
            <a:r>
              <a:rPr lang="en-US" b="1"/>
              <a:t>Approach:</a:t>
            </a:r>
            <a:endParaRPr lang="en-US" b="1"/>
          </a:p>
          <a:p>
            <a:pPr marL="285750" indent="-285750">
              <a:buFont typeface="Arial" panose="020B0604020202020204" pitchFamily="34" charset="0"/>
              <a:buChar char="•"/>
            </a:pPr>
            <a:r>
              <a:rPr lang="en-US"/>
              <a:t>First i created a pivot table in new worksheet.</a:t>
            </a:r>
            <a:endParaRPr lang="en-US"/>
          </a:p>
          <a:p>
            <a:pPr marL="285750" indent="-285750">
              <a:buFont typeface="Arial" panose="020B0604020202020204" pitchFamily="34" charset="0"/>
              <a:buChar char="•"/>
            </a:pPr>
            <a:r>
              <a:rPr lang="en-US"/>
              <a:t>then added director list ,and the count of movie directed by them and the average rating they got for their movie.</a:t>
            </a:r>
            <a:endParaRPr lang="en-US"/>
          </a:p>
          <a:p>
            <a:pPr marL="285750" indent="-285750">
              <a:buFont typeface="Arial" panose="020B0604020202020204" pitchFamily="34" charset="0"/>
              <a:buChar char="•"/>
            </a:pPr>
            <a:r>
              <a:rPr lang="en-US"/>
              <a:t>Then i use 100-percentile on their average imdb score to get the higest imdb score director.</a:t>
            </a:r>
            <a:endParaRPr lang="en-US"/>
          </a:p>
          <a:p>
            <a:pPr marL="285750" indent="-285750">
              <a:buFont typeface="Arial" panose="020B0604020202020204" pitchFamily="34" charset="0"/>
              <a:buChar char="•"/>
            </a:pPr>
            <a:r>
              <a:rPr lang="en-US"/>
              <a:t>And then i added a pivot chart to it to get a visulization of their rating.</a:t>
            </a:r>
            <a:endParaRPr lang="en-US"/>
          </a:p>
          <a:p>
            <a:pPr indent="0">
              <a:buFont typeface="Arial" panose="020B0604020202020204" pitchFamily="34" charset="0"/>
              <a:buNone/>
            </a:pPr>
            <a:r>
              <a:rPr lang="en-US" b="1"/>
              <a:t>Insight: </a:t>
            </a:r>
            <a:endParaRPr lang="en-US" b="1"/>
          </a:p>
          <a:p>
            <a:pPr indent="0">
              <a:buFont typeface="Arial" panose="020B0604020202020204" pitchFamily="34" charset="0"/>
              <a:buNone/>
            </a:pPr>
            <a:r>
              <a:rPr lang="en-US"/>
              <a:t>I got to know that </a:t>
            </a:r>
            <a:r>
              <a:rPr lang="en-US" b="1"/>
              <a:t>John Blanchard</a:t>
            </a:r>
            <a:r>
              <a:rPr lang="en-US"/>
              <a:t> got the higest rating for his movie .</a:t>
            </a:r>
            <a:endParaRPr lang="en-US"/>
          </a:p>
        </p:txBody>
      </p:sp>
      <p:pic>
        <p:nvPicPr>
          <p:cNvPr id="3" name="Picture 2" descr="Screenshot 2023-08-04 154252"/>
          <p:cNvPicPr>
            <a:picLocks noChangeAspect="1"/>
          </p:cNvPicPr>
          <p:nvPr/>
        </p:nvPicPr>
        <p:blipFill>
          <a:blip r:embed="rId1"/>
          <a:stretch>
            <a:fillRect/>
          </a:stretch>
        </p:blipFill>
        <p:spPr>
          <a:xfrm>
            <a:off x="432435" y="3494405"/>
            <a:ext cx="11296650" cy="31997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27380" y="424180"/>
            <a:ext cx="11008360" cy="3415030"/>
          </a:xfrm>
          <a:prstGeom prst="rect">
            <a:avLst/>
          </a:prstGeom>
          <a:noFill/>
        </p:spPr>
        <p:txBody>
          <a:bodyPr wrap="square" rtlCol="0">
            <a:spAutoFit/>
          </a:bodyPr>
          <a:p>
            <a:r>
              <a:rPr lang="en-US"/>
              <a:t>E. Budget Analysis: Explore the relationship between movie budgets and their financial success.</a:t>
            </a:r>
            <a:endParaRPr lang="en-US"/>
          </a:p>
          <a:p>
            <a:endParaRPr lang="en-US"/>
          </a:p>
          <a:p>
            <a:r>
              <a:rPr lang="en-US"/>
              <a:t>Task: Analyze the correlation between movie budgets and gross earnings, and identify the movies with the highest profit margin.</a:t>
            </a:r>
            <a:endParaRPr lang="en-US"/>
          </a:p>
          <a:p>
            <a:r>
              <a:rPr lang="en-US" b="1"/>
              <a:t>Approach:</a:t>
            </a:r>
            <a:endParaRPr lang="en-US" b="1"/>
          </a:p>
          <a:p>
            <a:pPr marL="285750" indent="-285750">
              <a:buFont typeface="Arial" panose="020B0604020202020204" pitchFamily="34" charset="0"/>
              <a:buChar char="•"/>
            </a:pPr>
            <a:r>
              <a:rPr lang="en-US"/>
              <a:t>first i created another table in new worksheet .</a:t>
            </a:r>
            <a:endParaRPr lang="en-US"/>
          </a:p>
          <a:p>
            <a:pPr marL="285750" indent="-285750">
              <a:buFont typeface="Arial" panose="020B0604020202020204" pitchFamily="34" charset="0"/>
              <a:buChar char="•"/>
            </a:pPr>
            <a:r>
              <a:rPr lang="en-US"/>
              <a:t>i included movie title ,budget,gross,imdb score &amp; profit column.</a:t>
            </a:r>
            <a:endParaRPr lang="en-US"/>
          </a:p>
          <a:p>
            <a:pPr marL="285750" indent="-285750">
              <a:buFont typeface="Arial" panose="020B0604020202020204" pitchFamily="34" charset="0"/>
              <a:buChar char="•"/>
            </a:pPr>
            <a:r>
              <a:rPr lang="en-US"/>
              <a:t>I imported the desire data and fitered the blank values,&amp; calculated the profit earned .</a:t>
            </a:r>
            <a:endParaRPr lang="en-US"/>
          </a:p>
          <a:p>
            <a:pPr marL="285750" indent="-285750">
              <a:buFont typeface="Arial" panose="020B0604020202020204" pitchFamily="34" charset="0"/>
              <a:buChar char="•"/>
            </a:pPr>
            <a:r>
              <a:rPr lang="en-US"/>
              <a:t>To calculate the profit i minused budget from gross earned.</a:t>
            </a:r>
            <a:endParaRPr lang="en-US"/>
          </a:p>
          <a:p>
            <a:pPr indent="0">
              <a:buFont typeface="Arial" panose="020B0604020202020204" pitchFamily="34" charset="0"/>
              <a:buNone/>
            </a:pPr>
            <a:r>
              <a:rPr lang="en-US" b="1"/>
              <a:t>Insight:</a:t>
            </a:r>
            <a:endParaRPr lang="en-US" b="1"/>
          </a:p>
          <a:p>
            <a:pPr indent="0">
              <a:buFont typeface="Arial" panose="020B0604020202020204" pitchFamily="34" charset="0"/>
              <a:buNone/>
            </a:pPr>
            <a:r>
              <a:rPr lang="en-US"/>
              <a:t>after calculating i got to know that the gross earned is not depended on the movie budget,it depends on the genre of the movie and the director and the language. </a:t>
            </a:r>
            <a:endParaRPr lang="en-US"/>
          </a:p>
        </p:txBody>
      </p:sp>
      <p:pic>
        <p:nvPicPr>
          <p:cNvPr id="3" name="Picture 2" descr="Screenshot 2023-08-04 155410"/>
          <p:cNvPicPr>
            <a:picLocks noChangeAspect="1"/>
          </p:cNvPicPr>
          <p:nvPr/>
        </p:nvPicPr>
        <p:blipFill>
          <a:blip r:embed="rId1"/>
          <a:stretch>
            <a:fillRect/>
          </a:stretch>
        </p:blipFill>
        <p:spPr>
          <a:xfrm>
            <a:off x="313690" y="3839845"/>
            <a:ext cx="11564620" cy="29470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37075" y="403860"/>
            <a:ext cx="4064000" cy="645160"/>
          </a:xfrm>
          <a:prstGeom prst="rect">
            <a:avLst/>
          </a:prstGeom>
          <a:noFill/>
        </p:spPr>
        <p:txBody>
          <a:bodyPr wrap="square" rtlCol="0">
            <a:spAutoFit/>
          </a:bodyPr>
          <a:p>
            <a:r>
              <a:rPr lang="en-US" b="1">
                <a:sym typeface="+mn-ea"/>
              </a:rPr>
              <a:t>Hyperlink the Excel Sheet file</a:t>
            </a:r>
            <a:r>
              <a:rPr lang="en-IN" altLang="en-US" b="1">
                <a:sym typeface="+mn-ea"/>
              </a:rPr>
              <a:t>:-</a:t>
            </a:r>
            <a:endParaRPr lang="en-IN" altLang="en-US" b="1"/>
          </a:p>
          <a:p>
            <a:endParaRPr lang="en-US"/>
          </a:p>
        </p:txBody>
      </p:sp>
      <p:sp>
        <p:nvSpPr>
          <p:cNvPr id="3" name="Text Box 2"/>
          <p:cNvSpPr txBox="1"/>
          <p:nvPr/>
        </p:nvSpPr>
        <p:spPr>
          <a:xfrm>
            <a:off x="544830" y="1463675"/>
            <a:ext cx="10237470" cy="645160"/>
          </a:xfrm>
          <a:prstGeom prst="rect">
            <a:avLst/>
          </a:prstGeom>
          <a:noFill/>
        </p:spPr>
        <p:txBody>
          <a:bodyPr wrap="square" rtlCol="0">
            <a:spAutoFit/>
          </a:bodyPr>
          <a:p>
            <a:r>
              <a:rPr lang="en-US">
                <a:hlinkClick r:id="rId1" tooltip="" action="ppaction://hlinkfile"/>
              </a:rPr>
              <a:t>https://docs.google.com/spreadsheets/d/1I2NxHaF2NpLdkRkEIlSW9Ylu2JtYELdA/edit?usp=drivesdk&amp;ouid=111398243446314990339&amp;rtpof=true&amp;sd=true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5275</Words>
  <Application>WPS Presentation</Application>
  <PresentationFormat>Widescreen</PresentationFormat>
  <Paragraphs>82</Paragraphs>
  <Slides>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SimSun</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sonal</dc:creator>
  <cp:lastModifiedBy>sonal</cp:lastModifiedBy>
  <cp:revision>8</cp:revision>
  <dcterms:created xsi:type="dcterms:W3CDTF">2023-08-03T05:22:00Z</dcterms:created>
  <dcterms:modified xsi:type="dcterms:W3CDTF">2023-08-04T10:29:51Z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70C164E291AD4972B72BD0644DA59695_11</vt:lpwstr>
  </property>
  <property fmtid="{D5CDD505-2E9C-101B-9397-08002B2CF9AE}" pid="3" name="KSOProductBuildVer">
    <vt:lpwstr>1033-12.2.0.13110</vt:lpwstr>
  </property>
</Properties>
</file>