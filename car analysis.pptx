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3"/>
    <p:sldId id="280" r:id="rId4"/>
    <p:sldId id="279" r:id="rId5"/>
    <p:sldId id="278" r:id="rId6"/>
    <p:sldId id="277" r:id="rId7"/>
    <p:sldId id="276" r:id="rId8"/>
    <p:sldId id="275" r:id="rId9"/>
    <p:sldId id="274" r:id="rId10"/>
    <p:sldId id="273" r:id="rId11"/>
    <p:sldId id="272" r:id="rId12"/>
    <p:sldId id="271" r:id="rId13"/>
    <p:sldId id="270" r:id="rId14"/>
    <p:sldId id="269" r:id="rId15"/>
    <p:sldId id="267" r:id="rId16"/>
    <p:sldId id="266" r:id="rId17"/>
    <p:sldId id="265" r:id="rId18"/>
    <p:sldId id="264" r:id="rId19"/>
    <p:sldId id="263" r:id="rId20"/>
    <p:sldId id="262" r:id="rId21"/>
    <p:sldId id="261" r:id="rId22"/>
    <p:sldId id="260" r:id="rId23"/>
    <p:sldId id="259" r:id="rId24"/>
    <p:sldId id="257" r:id="rId25"/>
    <p:sldId id="268" r:id="rId26"/>
    <p:sldId id="303" r:id="rId27"/>
    <p:sldId id="304" r:id="rId28"/>
    <p:sldId id="30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p14:dur="500"/>
    </mc:Choice>
    <mc:Fallback>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6.png"/><Relationship Id="rId1"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2.png"/><Relationship Id="rId1" Type="http://schemas.openxmlformats.org/officeDocument/2006/relationships/image" Target="../media/image31.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public.tableau.com/views/caranalysis_16932099114040/Dashboard?:language=en-US&amp;publish=yes&amp;:display_count=n&amp;:origin=viz_share_link" TargetMode="External"/><Relationship Id="rId1" Type="http://schemas.openxmlformats.org/officeDocument/2006/relationships/hyperlink" Target="https://docs.google.com/spreadsheets/d/1R9bB0-1Fg2Hk2-dycRy-kpxHrrUWJ3sQ/edit?usp=drivesdk&amp;ouid=111398243446314990339&amp;rtpof=true&amp;sd=true"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428875" y="1498600"/>
            <a:ext cx="7334250" cy="3448050"/>
          </a:xfrm>
          <a:prstGeom prst="rect">
            <a:avLst/>
          </a:prstGeom>
          <a:noFill/>
        </p:spPr>
        <p:txBody>
          <a:bodyPr wrap="square" rtlCol="0">
            <a:noAutofit/>
          </a:bodyPr>
          <a:p>
            <a:pPr algn="ctr"/>
            <a:r>
              <a:rPr lang="en-US" sz="7200">
                <a:solidFill>
                  <a:schemeClr val="tx1"/>
                </a:solidFill>
                <a:effectLst>
                  <a:outerShdw blurRad="38100" dist="19050" dir="2700000" algn="tl" rotWithShape="0">
                    <a:schemeClr val="dk1">
                      <a:alpha val="40000"/>
                    </a:schemeClr>
                  </a:outerShdw>
                </a:effectLst>
              </a:rPr>
              <a:t>Impact Of Car Features On Price And Profitability</a:t>
            </a:r>
            <a:endParaRPr lang="en-US" sz="7200">
              <a:solidFill>
                <a:schemeClr val="tx1"/>
              </a:solidFill>
              <a:effectLst>
                <a:outerShdw blurRad="38100" dist="19050" dir="2700000" algn="tl" rotWithShape="0">
                  <a:schemeClr val="dk1">
                    <a:alpha val="40000"/>
                  </a:schemeClr>
                </a:outerShdw>
              </a:effectLst>
            </a:endParaRPr>
          </a:p>
          <a:p>
            <a:pPr algn="ctr"/>
            <a:endParaRPr lang="en-US" sz="7200">
              <a:solidFill>
                <a:schemeClr val="tx1"/>
              </a:solidFill>
              <a:effectLst>
                <a:outerShdw blurRad="38100" dist="19050" dir="2700000" algn="tl" rotWithShape="0">
                  <a:schemeClr val="dk1">
                    <a:alpha val="40000"/>
                  </a:schemeClr>
                </a:outerShdw>
              </a:effectLst>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22960" y="439420"/>
            <a:ext cx="10462895" cy="5795010"/>
          </a:xfrm>
          <a:prstGeom prst="rect">
            <a:avLst/>
          </a:prstGeom>
          <a:noFill/>
        </p:spPr>
        <p:txBody>
          <a:bodyPr wrap="square" rtlCol="0">
            <a:spAutoFit/>
          </a:bodyPr>
          <a:p>
            <a:r>
              <a:rPr lang="en-US" sz="2000" b="1"/>
              <a:t>PROJECT DESCRIPTION:</a:t>
            </a:r>
            <a:endParaRPr lang="en-US" sz="2000" b="1"/>
          </a:p>
          <a:p>
            <a:pPr>
              <a:lnSpc>
                <a:spcPct val="130000"/>
              </a:lnSpc>
            </a:pPr>
            <a:r>
              <a:rPr lang="en-US"/>
              <a:t>The automotive industry has been rapidly evolving over the past few decades, with a growing focus on fuel efficiency, environmental sustainability, and technological innovation. With increasing competition among manufacturers and a changing consumer landscape, it has become more important than ever to understand the factors that drive consumer demand for cars.</a:t>
            </a:r>
            <a:endParaRPr lang="en-US"/>
          </a:p>
          <a:p>
            <a:pPr>
              <a:lnSpc>
                <a:spcPct val="130000"/>
              </a:lnSpc>
            </a:pPr>
            <a:r>
              <a:rPr lang="en-US"/>
              <a:t>In recent years, there has been a growing trend towards electric and hybrid vehicles and increased interest in alternative fuel sources.At the same time, traditional gasoline-powered cars remain dominant in the market, with varying fuel types and grades available to consumers.</a:t>
            </a:r>
            <a:endParaRPr lang="en-US"/>
          </a:p>
          <a:p>
            <a:pPr>
              <a:lnSpc>
                <a:spcPct val="130000"/>
              </a:lnSpc>
            </a:pPr>
            <a:r>
              <a:rPr lang="en-US"/>
              <a:t>For the given dataset, as a Data Analyst, the client has asked How can a car manufacturer optimize pricing and product development decisions to maximize profitability while meeting consumer demand?.</a:t>
            </a:r>
            <a:endParaRPr lang="en-US"/>
          </a:p>
          <a:p>
            <a:pPr>
              <a:lnSpc>
                <a:spcPct val="130000"/>
              </a:lnSpc>
            </a:pPr>
            <a:r>
              <a:rPr lang="en-US"/>
              <a:t>This problem could be approached by analyzing the relationship between a car's features, market category, and pricing, and identifying which features and categories are most popular among consumers and most profitable for the manufacturer. By using data analysis techniques such as regression analysis and market segmentation, the manufacturer could develop a pricing strategy that balances consumer demand with profitability, and identify which product features to focus on in future product development efforts. This could help the manufacturer improve its competitiveness in the market and increase its profitability over time.</a:t>
            </a:r>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03555" y="367030"/>
            <a:ext cx="11060430" cy="2197735"/>
          </a:xfrm>
          <a:prstGeom prst="rect">
            <a:avLst/>
          </a:prstGeom>
          <a:noFill/>
        </p:spPr>
        <p:txBody>
          <a:bodyPr wrap="square" rtlCol="0">
            <a:spAutoFit/>
          </a:bodyPr>
          <a:p>
            <a:r>
              <a:rPr lang="en-US" sz="2000" b="1"/>
              <a:t>APPROACH :</a:t>
            </a:r>
            <a:endParaRPr lang="en-US" sz="2000" b="1"/>
          </a:p>
          <a:p>
            <a:pPr marL="285750" indent="-285750">
              <a:lnSpc>
                <a:spcPct val="130000"/>
              </a:lnSpc>
              <a:buFont typeface="Arial" panose="020B0604020202020204" pitchFamily="34" charset="0"/>
              <a:buChar char="•"/>
            </a:pPr>
            <a:r>
              <a:rPr lang="en-US"/>
              <a:t>In this project, I used wps Excel and Tableau to visualize the data.</a:t>
            </a:r>
            <a:endParaRPr lang="en-US"/>
          </a:p>
          <a:p>
            <a:pPr marL="285750" indent="-285750">
              <a:lnSpc>
                <a:spcPct val="130000"/>
              </a:lnSpc>
              <a:buFont typeface="Arial" panose="020B0604020202020204" pitchFamily="34" charset="0"/>
              <a:buChar char="•"/>
            </a:pPr>
            <a:r>
              <a:rPr lang="en-US"/>
              <a:t>After reading the data, I performed eda to know the total missing values in each variables.</a:t>
            </a:r>
            <a:endParaRPr lang="en-US"/>
          </a:p>
          <a:p>
            <a:pPr marL="285750" indent="-285750">
              <a:lnSpc>
                <a:spcPct val="130000"/>
              </a:lnSpc>
              <a:buFont typeface="Arial" panose="020B0604020202020204" pitchFamily="34" charset="0"/>
              <a:buChar char="•"/>
            </a:pPr>
            <a:r>
              <a:rPr lang="en-US"/>
              <a:t>performed data analysis techniques such as regression analysis, pivot tables, sensitivity analysis, optimization, and time series analysis. </a:t>
            </a:r>
            <a:endParaRPr lang="en-US"/>
          </a:p>
          <a:p>
            <a:pPr marL="285750" indent="-285750">
              <a:lnSpc>
                <a:spcPct val="130000"/>
              </a:lnSpc>
              <a:buFont typeface="Arial" panose="020B0604020202020204" pitchFamily="34" charset="0"/>
              <a:buChar char="•"/>
            </a:pPr>
            <a:r>
              <a:rPr lang="en-US"/>
              <a:t>then build an interactive dashboard.</a:t>
            </a:r>
            <a:endParaRPr lang="en-US"/>
          </a:p>
        </p:txBody>
      </p:sp>
      <p:sp>
        <p:nvSpPr>
          <p:cNvPr id="3" name="Text Box 2"/>
          <p:cNvSpPr txBox="1"/>
          <p:nvPr/>
        </p:nvSpPr>
        <p:spPr>
          <a:xfrm>
            <a:off x="503555" y="2846705"/>
            <a:ext cx="10546080" cy="2106930"/>
          </a:xfrm>
          <a:prstGeom prst="rect">
            <a:avLst/>
          </a:prstGeom>
          <a:noFill/>
        </p:spPr>
        <p:txBody>
          <a:bodyPr wrap="square" rtlCol="0">
            <a:spAutoFit/>
          </a:bodyPr>
          <a:p>
            <a:r>
              <a:rPr lang="en-US" sz="2000" b="1"/>
              <a:t>TECK STACK USED:</a:t>
            </a:r>
            <a:endParaRPr lang="en-US" sz="2000" b="1"/>
          </a:p>
          <a:p>
            <a:pPr>
              <a:lnSpc>
                <a:spcPct val="150000"/>
              </a:lnSpc>
            </a:pPr>
            <a:r>
              <a:rPr lang="en-US"/>
              <a:t>I have used wps Excel and Tableau Public 2023.2 because wps Excel is a free popular spreadsheet software widely used for data analysis, modeling, and visualization. Tableau public is a free business analytics service that provides interactive visualizations and business intelligence capabilities, and integrates with a wide range of data sources. It allows users to create customized dashboards and reports.</a:t>
            </a:r>
            <a:r>
              <a:rPr lang="en-US" sz="2000" b="1"/>
              <a:t> </a:t>
            </a:r>
            <a:endParaRPr lang="en-US" sz="2000" b="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06425" y="326390"/>
            <a:ext cx="10237470" cy="1547495"/>
          </a:xfrm>
          <a:prstGeom prst="rect">
            <a:avLst/>
          </a:prstGeom>
          <a:noFill/>
        </p:spPr>
        <p:txBody>
          <a:bodyPr wrap="square" rtlCol="0">
            <a:noAutofit/>
          </a:bodyPr>
          <a:p>
            <a:r>
              <a:rPr lang="en-US" sz="2000" b="1"/>
              <a:t>RESULTS AND INSIGHTS</a:t>
            </a:r>
            <a:r>
              <a:rPr lang="en-US"/>
              <a:t> :</a:t>
            </a:r>
            <a:endParaRPr lang="en-US"/>
          </a:p>
          <a:p>
            <a:r>
              <a:rPr lang="en-US"/>
              <a:t>Insight Required: How does the popularity of a car model vary across different market categories?</a:t>
            </a:r>
            <a:endParaRPr lang="en-US"/>
          </a:p>
          <a:p>
            <a:r>
              <a:rPr lang="en-US"/>
              <a:t>Task 1.A: Create a pivot table that shows the number of car models in each market category and their corresponding popularity scores.</a:t>
            </a:r>
            <a:endParaRPr lang="en-US"/>
          </a:p>
          <a:p>
            <a:r>
              <a:rPr lang="en-US"/>
              <a:t>Ans:</a:t>
            </a:r>
            <a:r>
              <a:rPr lang="en-US">
                <a:sym typeface="+mn-ea"/>
              </a:rPr>
              <a:t>The flex fuel &amp; crossover market category has the highest popularity among customers.</a:t>
            </a:r>
            <a:endParaRPr lang="en-US"/>
          </a:p>
          <a:p>
            <a:endParaRPr lang="en-US"/>
          </a:p>
        </p:txBody>
      </p:sp>
      <p:pic>
        <p:nvPicPr>
          <p:cNvPr id="3" name="Picture 2"/>
          <p:cNvPicPr>
            <a:picLocks noChangeAspect="1"/>
          </p:cNvPicPr>
          <p:nvPr/>
        </p:nvPicPr>
        <p:blipFill>
          <a:blip r:embed="rId1"/>
          <a:stretch>
            <a:fillRect/>
          </a:stretch>
        </p:blipFill>
        <p:spPr>
          <a:xfrm>
            <a:off x="1325880" y="1955165"/>
            <a:ext cx="4770120" cy="4758690"/>
          </a:xfrm>
          <a:prstGeom prst="rect">
            <a:avLst/>
          </a:prstGeom>
        </p:spPr>
      </p:pic>
      <p:pic>
        <p:nvPicPr>
          <p:cNvPr id="4" name="Picture 3"/>
          <p:cNvPicPr>
            <a:picLocks noChangeAspect="1"/>
          </p:cNvPicPr>
          <p:nvPr/>
        </p:nvPicPr>
        <p:blipFill>
          <a:blip r:embed="rId2"/>
          <a:stretch>
            <a:fillRect/>
          </a:stretch>
        </p:blipFill>
        <p:spPr>
          <a:xfrm>
            <a:off x="6250940" y="1955800"/>
            <a:ext cx="4998720" cy="475805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267335" y="285115"/>
            <a:ext cx="11450955" cy="645160"/>
          </a:xfrm>
          <a:prstGeom prst="rect">
            <a:avLst/>
          </a:prstGeom>
          <a:noFill/>
        </p:spPr>
        <p:txBody>
          <a:bodyPr wrap="square" rtlCol="0">
            <a:spAutoFit/>
          </a:bodyPr>
          <a:p>
            <a:r>
              <a:rPr lang="en-US"/>
              <a:t>Task 1.B: Create a combo chart that visualizes the relationship between market category and popularity.</a:t>
            </a:r>
            <a:endParaRPr lang="en-US"/>
          </a:p>
          <a:p>
            <a:r>
              <a:rPr lang="en-US"/>
              <a:t>Ans:</a:t>
            </a:r>
            <a:endParaRPr lang="en-US"/>
          </a:p>
        </p:txBody>
      </p:sp>
      <p:pic>
        <p:nvPicPr>
          <p:cNvPr id="4" name="Picture 3"/>
          <p:cNvPicPr>
            <a:picLocks noChangeAspect="1"/>
          </p:cNvPicPr>
          <p:nvPr/>
        </p:nvPicPr>
        <p:blipFill>
          <a:blip r:embed="rId1"/>
          <a:stretch>
            <a:fillRect/>
          </a:stretch>
        </p:blipFill>
        <p:spPr>
          <a:xfrm>
            <a:off x="267335" y="980440"/>
            <a:ext cx="11737340" cy="54425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07975" y="285115"/>
            <a:ext cx="11183620" cy="1476375"/>
          </a:xfrm>
          <a:prstGeom prst="rect">
            <a:avLst/>
          </a:prstGeom>
          <a:noFill/>
        </p:spPr>
        <p:txBody>
          <a:bodyPr wrap="square" rtlCol="0">
            <a:spAutoFit/>
          </a:bodyPr>
          <a:p>
            <a:r>
              <a:rPr lang="en-US"/>
              <a:t>Insight Required: What is the relationship between a car's engine power and its price?</a:t>
            </a:r>
            <a:endParaRPr lang="en-US"/>
          </a:p>
          <a:p>
            <a:r>
              <a:rPr lang="en-US"/>
              <a:t>Task 2:  Create a scatter chart that plots engine power on the x-axis and price on the y-axis. Add a trendline to the chart to visualize the relationship between these variables.</a:t>
            </a:r>
            <a:endParaRPr lang="en-US"/>
          </a:p>
          <a:p>
            <a:r>
              <a:rPr lang="en-US"/>
              <a:t>Ans:There is a positive relationship  between a car's engine power and its price, where the price increases as the engine power increases.</a:t>
            </a:r>
            <a:endParaRPr lang="en-US"/>
          </a:p>
        </p:txBody>
      </p:sp>
      <p:pic>
        <p:nvPicPr>
          <p:cNvPr id="3" name="Picture 2"/>
          <p:cNvPicPr>
            <a:picLocks noChangeAspect="1"/>
          </p:cNvPicPr>
          <p:nvPr/>
        </p:nvPicPr>
        <p:blipFill>
          <a:blip r:embed="rId1"/>
          <a:stretch>
            <a:fillRect/>
          </a:stretch>
        </p:blipFill>
        <p:spPr>
          <a:xfrm>
            <a:off x="465455" y="1864360"/>
            <a:ext cx="11026140" cy="48920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21640" y="274320"/>
            <a:ext cx="11358245" cy="2030095"/>
          </a:xfrm>
          <a:prstGeom prst="rect">
            <a:avLst/>
          </a:prstGeom>
          <a:noFill/>
        </p:spPr>
        <p:txBody>
          <a:bodyPr wrap="square" rtlCol="0">
            <a:spAutoFit/>
          </a:bodyPr>
          <a:p>
            <a:r>
              <a:rPr lang="en-US"/>
              <a:t>Insight Required: Which car features are most important in determining a car's price? </a:t>
            </a:r>
            <a:endParaRPr lang="en-US"/>
          </a:p>
          <a:p>
            <a:r>
              <a:rPr lang="en-US"/>
              <a:t>Task 3: Use regression analysis to identify the variables that have the strongest relationship with a car's price. Then create a bar chart that shows the coefficient values for each variable to visualize their relative importance.</a:t>
            </a:r>
            <a:endParaRPr lang="en-US"/>
          </a:p>
          <a:p>
            <a:r>
              <a:rPr lang="en-US"/>
              <a:t>Ans:As we have to perform regression analysis with the dependent variable 'MSRP', we cannot  perform regression  analysis on categorical values. Therefore, we performed regression analysis based on numerical values, and found that the Engine hp &amp; Engine cylinder has  the  strongest moderate relationship with MSRP. We plotted a bar graph of Engine hp vs price, and found that it is a car feature that we can include to make the car more appealing. </a:t>
            </a:r>
            <a:endParaRPr lang="en-US"/>
          </a:p>
        </p:txBody>
      </p:sp>
      <p:pic>
        <p:nvPicPr>
          <p:cNvPr id="3" name="Picture 2"/>
          <p:cNvPicPr>
            <a:picLocks noChangeAspect="1"/>
          </p:cNvPicPr>
          <p:nvPr/>
        </p:nvPicPr>
        <p:blipFill>
          <a:blip r:embed="rId1"/>
          <a:stretch>
            <a:fillRect/>
          </a:stretch>
        </p:blipFill>
        <p:spPr>
          <a:xfrm>
            <a:off x="3102610" y="2471420"/>
            <a:ext cx="5277485" cy="730250"/>
          </a:xfrm>
          <a:prstGeom prst="rect">
            <a:avLst/>
          </a:prstGeom>
        </p:spPr>
      </p:pic>
      <p:pic>
        <p:nvPicPr>
          <p:cNvPr id="4" name="Picture 3"/>
          <p:cNvPicPr>
            <a:picLocks noChangeAspect="1"/>
          </p:cNvPicPr>
          <p:nvPr/>
        </p:nvPicPr>
        <p:blipFill>
          <a:blip r:embed="rId2"/>
          <a:stretch>
            <a:fillRect/>
          </a:stretch>
        </p:blipFill>
        <p:spPr>
          <a:xfrm>
            <a:off x="138430" y="3510280"/>
            <a:ext cx="5726430" cy="2512060"/>
          </a:xfrm>
          <a:prstGeom prst="rect">
            <a:avLst/>
          </a:prstGeom>
        </p:spPr>
      </p:pic>
      <p:pic>
        <p:nvPicPr>
          <p:cNvPr id="5" name="Picture 4"/>
          <p:cNvPicPr>
            <a:picLocks noChangeAspect="1"/>
          </p:cNvPicPr>
          <p:nvPr/>
        </p:nvPicPr>
        <p:blipFill>
          <a:blip r:embed="rId3"/>
          <a:stretch>
            <a:fillRect/>
          </a:stretch>
        </p:blipFill>
        <p:spPr>
          <a:xfrm>
            <a:off x="5865495" y="3510280"/>
            <a:ext cx="6161405" cy="251269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2485390" y="3537585"/>
            <a:ext cx="6995160" cy="3116580"/>
          </a:xfrm>
          <a:prstGeom prst="rect">
            <a:avLst/>
          </a:prstGeom>
        </p:spPr>
      </p:pic>
      <p:pic>
        <p:nvPicPr>
          <p:cNvPr id="3" name="Picture 2"/>
          <p:cNvPicPr>
            <a:picLocks noChangeAspect="1"/>
          </p:cNvPicPr>
          <p:nvPr/>
        </p:nvPicPr>
        <p:blipFill>
          <a:blip r:embed="rId2"/>
          <a:stretch>
            <a:fillRect/>
          </a:stretch>
        </p:blipFill>
        <p:spPr>
          <a:xfrm>
            <a:off x="144145" y="193675"/>
            <a:ext cx="5951855" cy="2910840"/>
          </a:xfrm>
          <a:prstGeom prst="rect">
            <a:avLst/>
          </a:prstGeom>
        </p:spPr>
      </p:pic>
      <p:pic>
        <p:nvPicPr>
          <p:cNvPr id="4" name="Picture 3"/>
          <p:cNvPicPr>
            <a:picLocks noChangeAspect="1"/>
          </p:cNvPicPr>
          <p:nvPr/>
        </p:nvPicPr>
        <p:blipFill>
          <a:blip r:embed="rId3"/>
          <a:stretch>
            <a:fillRect/>
          </a:stretch>
        </p:blipFill>
        <p:spPr>
          <a:xfrm>
            <a:off x="6096000" y="193675"/>
            <a:ext cx="6058535" cy="291020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142875" y="1022350"/>
            <a:ext cx="11748770" cy="41179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63220" y="384175"/>
            <a:ext cx="11402060" cy="922020"/>
          </a:xfrm>
          <a:prstGeom prst="rect">
            <a:avLst/>
          </a:prstGeom>
          <a:noFill/>
        </p:spPr>
        <p:txBody>
          <a:bodyPr wrap="square" rtlCol="0">
            <a:spAutoFit/>
          </a:bodyPr>
          <a:p>
            <a:r>
              <a:rPr lang="en-US"/>
              <a:t>Insight Required: How does the average price of a car vary across different manufacturers?</a:t>
            </a:r>
            <a:endParaRPr lang="en-US"/>
          </a:p>
          <a:p>
            <a:r>
              <a:rPr lang="en-US"/>
              <a:t>Task 4.A: Create a pivot table that shows the average price of cars for each manufacturer. </a:t>
            </a:r>
            <a:endParaRPr lang="en-US"/>
          </a:p>
          <a:p>
            <a:r>
              <a:rPr lang="en-US"/>
              <a:t>Ans:</a:t>
            </a:r>
            <a:endParaRPr lang="en-US"/>
          </a:p>
        </p:txBody>
      </p:sp>
      <p:pic>
        <p:nvPicPr>
          <p:cNvPr id="3" name="Picture 2"/>
          <p:cNvPicPr>
            <a:picLocks noChangeAspect="1"/>
          </p:cNvPicPr>
          <p:nvPr/>
        </p:nvPicPr>
        <p:blipFill>
          <a:blip r:embed="rId1"/>
          <a:stretch>
            <a:fillRect/>
          </a:stretch>
        </p:blipFill>
        <p:spPr>
          <a:xfrm>
            <a:off x="1107440" y="1337310"/>
            <a:ext cx="2839085" cy="5128895"/>
          </a:xfrm>
          <a:prstGeom prst="rect">
            <a:avLst/>
          </a:prstGeom>
        </p:spPr>
      </p:pic>
      <p:pic>
        <p:nvPicPr>
          <p:cNvPr id="4" name="Picture 3"/>
          <p:cNvPicPr>
            <a:picLocks noChangeAspect="1"/>
          </p:cNvPicPr>
          <p:nvPr/>
        </p:nvPicPr>
        <p:blipFill>
          <a:blip r:embed="rId2"/>
          <a:stretch>
            <a:fillRect/>
          </a:stretch>
        </p:blipFill>
        <p:spPr>
          <a:xfrm>
            <a:off x="4692015" y="1329690"/>
            <a:ext cx="2798445" cy="363410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98475" y="354965"/>
            <a:ext cx="11132185" cy="922020"/>
          </a:xfrm>
          <a:prstGeom prst="rect">
            <a:avLst/>
          </a:prstGeom>
          <a:noFill/>
        </p:spPr>
        <p:txBody>
          <a:bodyPr wrap="square" rtlCol="0">
            <a:spAutoFit/>
          </a:bodyPr>
          <a:p>
            <a:r>
              <a:rPr lang="en-US"/>
              <a:t>Task 4.B: Create a bar chart or a horizontal stacked bar chart that visualizes the relationship between manufacturer and average price.</a:t>
            </a:r>
            <a:endParaRPr lang="en-US"/>
          </a:p>
          <a:p>
            <a:r>
              <a:rPr lang="en-US"/>
              <a:t>Ans:</a:t>
            </a:r>
            <a:endParaRPr lang="en-US"/>
          </a:p>
        </p:txBody>
      </p:sp>
      <p:pic>
        <p:nvPicPr>
          <p:cNvPr id="3" name="Picture 2"/>
          <p:cNvPicPr>
            <a:picLocks noChangeAspect="1"/>
          </p:cNvPicPr>
          <p:nvPr/>
        </p:nvPicPr>
        <p:blipFill>
          <a:blip r:embed="rId1"/>
          <a:stretch>
            <a:fillRect/>
          </a:stretch>
        </p:blipFill>
        <p:spPr>
          <a:xfrm>
            <a:off x="571500" y="1276985"/>
            <a:ext cx="11010900" cy="48602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24485" y="230505"/>
            <a:ext cx="11421745" cy="1198880"/>
          </a:xfrm>
          <a:prstGeom prst="rect">
            <a:avLst/>
          </a:prstGeom>
          <a:noFill/>
        </p:spPr>
        <p:txBody>
          <a:bodyPr wrap="square" rtlCol="0">
            <a:spAutoFit/>
          </a:bodyPr>
          <a:p>
            <a:r>
              <a:rPr lang="en-US"/>
              <a:t>Insight Required: What is the relationship between fuel efficiency and the number of cylinders in a car's engine?</a:t>
            </a:r>
            <a:endParaRPr lang="en-US"/>
          </a:p>
          <a:p>
            <a:r>
              <a:rPr lang="en-US"/>
              <a:t>Task 5.A: Create a scatter plot with the number of cylinders on the x-axis and highway MPG on the y-axis. Then create a trendline on the scatter plot to visually estimate the slope of the relationship and assess its significance.</a:t>
            </a:r>
            <a:endParaRPr lang="en-US"/>
          </a:p>
          <a:p>
            <a:r>
              <a:rPr lang="en-US"/>
              <a:t>Ans:</a:t>
            </a:r>
            <a:endParaRPr lang="en-US"/>
          </a:p>
        </p:txBody>
      </p:sp>
      <p:pic>
        <p:nvPicPr>
          <p:cNvPr id="3" name="Picture 2"/>
          <p:cNvPicPr>
            <a:picLocks noChangeAspect="1"/>
          </p:cNvPicPr>
          <p:nvPr/>
        </p:nvPicPr>
        <p:blipFill>
          <a:blip r:embed="rId1"/>
          <a:stretch>
            <a:fillRect/>
          </a:stretch>
        </p:blipFill>
        <p:spPr>
          <a:xfrm>
            <a:off x="887730" y="1405890"/>
            <a:ext cx="10416540" cy="432498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59740" y="384175"/>
            <a:ext cx="11113135" cy="1476375"/>
          </a:xfrm>
          <a:prstGeom prst="rect">
            <a:avLst/>
          </a:prstGeom>
          <a:noFill/>
        </p:spPr>
        <p:txBody>
          <a:bodyPr wrap="square" rtlCol="0">
            <a:spAutoFit/>
          </a:bodyPr>
          <a:p>
            <a:r>
              <a:rPr lang="en-US"/>
              <a:t>Task 5.B: Calculate the correlation coefficient between the number of cylinders and highway MPG to quantify the strength and direction of the relationship.</a:t>
            </a:r>
            <a:endParaRPr lang="en-US"/>
          </a:p>
          <a:p>
            <a:r>
              <a:rPr lang="en-US"/>
              <a:t>Ans:We can see that there is an indirect relationship between these two variables. As the number of cylinders increases, the highway miles per gallon decreases. This means that as fuel efficiency increases, the number of cylinders decreases.</a:t>
            </a:r>
            <a:endParaRPr lang="en-US"/>
          </a:p>
        </p:txBody>
      </p:sp>
      <p:pic>
        <p:nvPicPr>
          <p:cNvPr id="3" name="Picture 2"/>
          <p:cNvPicPr>
            <a:picLocks noChangeAspect="1"/>
          </p:cNvPicPr>
          <p:nvPr/>
        </p:nvPicPr>
        <p:blipFill>
          <a:blip r:embed="rId1"/>
          <a:stretch>
            <a:fillRect/>
          </a:stretch>
        </p:blipFill>
        <p:spPr>
          <a:xfrm>
            <a:off x="3350895" y="2329180"/>
            <a:ext cx="4683125" cy="8413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662170" y="345440"/>
            <a:ext cx="4064000" cy="460375"/>
          </a:xfrm>
          <a:prstGeom prst="rect">
            <a:avLst/>
          </a:prstGeom>
          <a:noFill/>
        </p:spPr>
        <p:txBody>
          <a:bodyPr wrap="square" rtlCol="0">
            <a:spAutoFit/>
          </a:bodyPr>
          <a:p>
            <a:r>
              <a:rPr lang="en-US" sz="2400" b="1">
                <a:solidFill>
                  <a:schemeClr val="tx1"/>
                </a:solidFill>
                <a:effectLst>
                  <a:outerShdw blurRad="38100" dist="19050" dir="2700000" algn="tl" rotWithShape="0">
                    <a:schemeClr val="dk1">
                      <a:alpha val="40000"/>
                    </a:schemeClr>
                  </a:outerShdw>
                </a:effectLst>
              </a:rPr>
              <a:t>Dashboard Task</a:t>
            </a:r>
            <a:endParaRPr lang="en-US" sz="2400" b="1">
              <a:solidFill>
                <a:schemeClr val="tx1"/>
              </a:solidFill>
              <a:effectLst>
                <a:outerShdw blurRad="38100" dist="19050" dir="2700000" algn="tl" rotWithShape="0">
                  <a:schemeClr val="dk1">
                    <a:alpha val="40000"/>
                  </a:schemeClr>
                </a:outerShdw>
              </a:effectLst>
            </a:endParaRPr>
          </a:p>
        </p:txBody>
      </p:sp>
      <p:sp>
        <p:nvSpPr>
          <p:cNvPr id="3" name="Text Box 2"/>
          <p:cNvSpPr txBox="1"/>
          <p:nvPr/>
        </p:nvSpPr>
        <p:spPr>
          <a:xfrm>
            <a:off x="747395" y="1057275"/>
            <a:ext cx="10893425" cy="645160"/>
          </a:xfrm>
          <a:prstGeom prst="rect">
            <a:avLst/>
          </a:prstGeom>
          <a:noFill/>
        </p:spPr>
        <p:txBody>
          <a:bodyPr wrap="square" rtlCol="0">
            <a:spAutoFit/>
          </a:bodyPr>
          <a:p>
            <a:r>
              <a:rPr lang="en-US"/>
              <a:t>Task 1: How does the distribution of car prices vary by brand and body style?</a:t>
            </a:r>
            <a:endParaRPr lang="en-US"/>
          </a:p>
          <a:p>
            <a:r>
              <a:rPr lang="en-US"/>
              <a:t>Ans: </a:t>
            </a:r>
            <a:r>
              <a:rPr lang="en-US" b="1"/>
              <a:t>Total price by manufacturer and style</a:t>
            </a:r>
            <a:endParaRPr lang="en-US" b="1"/>
          </a:p>
        </p:txBody>
      </p:sp>
      <p:pic>
        <p:nvPicPr>
          <p:cNvPr id="4" name="Picture 3"/>
          <p:cNvPicPr>
            <a:picLocks noChangeAspect="1"/>
          </p:cNvPicPr>
          <p:nvPr/>
        </p:nvPicPr>
        <p:blipFill>
          <a:blip r:embed="rId1"/>
          <a:stretch>
            <a:fillRect/>
          </a:stretch>
        </p:blipFill>
        <p:spPr>
          <a:xfrm>
            <a:off x="1898650" y="1702435"/>
            <a:ext cx="2026285" cy="5082540"/>
          </a:xfrm>
          <a:prstGeom prst="rect">
            <a:avLst/>
          </a:prstGeom>
        </p:spPr>
      </p:pic>
      <p:pic>
        <p:nvPicPr>
          <p:cNvPr id="5" name="Picture 4"/>
          <p:cNvPicPr>
            <a:picLocks noChangeAspect="1"/>
          </p:cNvPicPr>
          <p:nvPr/>
        </p:nvPicPr>
        <p:blipFill>
          <a:blip r:embed="rId2"/>
          <a:stretch>
            <a:fillRect/>
          </a:stretch>
        </p:blipFill>
        <p:spPr>
          <a:xfrm>
            <a:off x="4090035" y="3583940"/>
            <a:ext cx="1972945" cy="3201035"/>
          </a:xfrm>
          <a:prstGeom prst="rect">
            <a:avLst/>
          </a:prstGeom>
        </p:spPr>
      </p:pic>
      <p:pic>
        <p:nvPicPr>
          <p:cNvPr id="6" name="Picture 5"/>
          <p:cNvPicPr>
            <a:picLocks noChangeAspect="1"/>
          </p:cNvPicPr>
          <p:nvPr/>
        </p:nvPicPr>
        <p:blipFill>
          <a:blip r:embed="rId3"/>
          <a:stretch>
            <a:fillRect/>
          </a:stretch>
        </p:blipFill>
        <p:spPr>
          <a:xfrm>
            <a:off x="8498840" y="2610485"/>
            <a:ext cx="2501900" cy="389191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231775" y="135255"/>
            <a:ext cx="11700510" cy="3075305"/>
          </a:xfrm>
          <a:prstGeom prst="rect">
            <a:avLst/>
          </a:prstGeom>
        </p:spPr>
      </p:pic>
      <p:pic>
        <p:nvPicPr>
          <p:cNvPr id="3" name="Picture 2"/>
          <p:cNvPicPr>
            <a:picLocks noChangeAspect="1"/>
          </p:cNvPicPr>
          <p:nvPr/>
        </p:nvPicPr>
        <p:blipFill>
          <a:blip r:embed="rId2"/>
          <a:stretch>
            <a:fillRect/>
          </a:stretch>
        </p:blipFill>
        <p:spPr>
          <a:xfrm>
            <a:off x="231775" y="3210560"/>
            <a:ext cx="11701145" cy="35306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575945" y="418465"/>
            <a:ext cx="11100435" cy="645160"/>
          </a:xfrm>
          <a:prstGeom prst="rect">
            <a:avLst/>
          </a:prstGeom>
          <a:noFill/>
        </p:spPr>
        <p:txBody>
          <a:bodyPr wrap="square" rtlCol="0">
            <a:spAutoFit/>
          </a:bodyPr>
          <a:p>
            <a:r>
              <a:rPr lang="en-US"/>
              <a:t>Task 2: Which car brands have the highest and lowest average MSRPs, and how does this vary by body style?</a:t>
            </a:r>
            <a:endParaRPr lang="en-US"/>
          </a:p>
          <a:p>
            <a:r>
              <a:rPr lang="en-US"/>
              <a:t>Ans:</a:t>
            </a:r>
            <a:endParaRPr lang="en-US"/>
          </a:p>
        </p:txBody>
      </p:sp>
      <p:pic>
        <p:nvPicPr>
          <p:cNvPr id="4" name="Picture 3"/>
          <p:cNvPicPr>
            <a:picLocks noChangeAspect="1"/>
          </p:cNvPicPr>
          <p:nvPr/>
        </p:nvPicPr>
        <p:blipFill>
          <a:blip r:embed="rId1"/>
          <a:stretch>
            <a:fillRect/>
          </a:stretch>
        </p:blipFill>
        <p:spPr>
          <a:xfrm>
            <a:off x="1068070" y="1308100"/>
            <a:ext cx="1845310" cy="5405120"/>
          </a:xfrm>
          <a:prstGeom prst="rect">
            <a:avLst/>
          </a:prstGeom>
        </p:spPr>
      </p:pic>
      <p:pic>
        <p:nvPicPr>
          <p:cNvPr id="5" name="Picture 4"/>
          <p:cNvPicPr>
            <a:picLocks noChangeAspect="1"/>
          </p:cNvPicPr>
          <p:nvPr/>
        </p:nvPicPr>
        <p:blipFill>
          <a:blip r:embed="rId2"/>
          <a:stretch>
            <a:fillRect/>
          </a:stretch>
        </p:blipFill>
        <p:spPr>
          <a:xfrm>
            <a:off x="3100070" y="3185160"/>
            <a:ext cx="1752600" cy="3528060"/>
          </a:xfrm>
          <a:prstGeom prst="rect">
            <a:avLst/>
          </a:prstGeom>
        </p:spPr>
      </p:pic>
      <p:pic>
        <p:nvPicPr>
          <p:cNvPr id="6" name="Picture 5"/>
          <p:cNvPicPr>
            <a:picLocks noChangeAspect="1"/>
          </p:cNvPicPr>
          <p:nvPr/>
        </p:nvPicPr>
        <p:blipFill>
          <a:blip r:embed="rId3"/>
          <a:stretch>
            <a:fillRect/>
          </a:stretch>
        </p:blipFill>
        <p:spPr>
          <a:xfrm>
            <a:off x="6515735" y="1356360"/>
            <a:ext cx="2597785" cy="42214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158750" y="250190"/>
            <a:ext cx="11842750" cy="3089275"/>
          </a:xfrm>
          <a:prstGeom prst="rect">
            <a:avLst/>
          </a:prstGeom>
        </p:spPr>
      </p:pic>
      <p:pic>
        <p:nvPicPr>
          <p:cNvPr id="3" name="Picture 2"/>
          <p:cNvPicPr>
            <a:picLocks noChangeAspect="1"/>
          </p:cNvPicPr>
          <p:nvPr/>
        </p:nvPicPr>
        <p:blipFill>
          <a:blip r:embed="rId2"/>
          <a:stretch>
            <a:fillRect/>
          </a:stretch>
        </p:blipFill>
        <p:spPr>
          <a:xfrm>
            <a:off x="158115" y="3429000"/>
            <a:ext cx="11843385" cy="31972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44830" y="387985"/>
            <a:ext cx="11183620" cy="645160"/>
          </a:xfrm>
          <a:prstGeom prst="rect">
            <a:avLst/>
          </a:prstGeom>
          <a:noFill/>
        </p:spPr>
        <p:txBody>
          <a:bodyPr wrap="square" rtlCol="0">
            <a:spAutoFit/>
          </a:bodyPr>
          <a:p>
            <a:r>
              <a:rPr lang="en-US"/>
              <a:t>Task 3: How do the different feature such as transmission type affect the MSRP, and how does this vary by body style?</a:t>
            </a:r>
            <a:endParaRPr lang="en-US"/>
          </a:p>
          <a:p>
            <a:r>
              <a:rPr lang="en-US"/>
              <a:t>Ans: </a:t>
            </a:r>
            <a:r>
              <a:rPr lang="en-US" b="1"/>
              <a:t>Average price by Transmission type &amp; style</a:t>
            </a:r>
            <a:endParaRPr lang="en-US" b="1"/>
          </a:p>
        </p:txBody>
      </p:sp>
      <p:pic>
        <p:nvPicPr>
          <p:cNvPr id="3" name="Picture 2"/>
          <p:cNvPicPr>
            <a:picLocks noChangeAspect="1"/>
          </p:cNvPicPr>
          <p:nvPr/>
        </p:nvPicPr>
        <p:blipFill>
          <a:blip r:embed="rId1"/>
          <a:stretch>
            <a:fillRect/>
          </a:stretch>
        </p:blipFill>
        <p:spPr>
          <a:xfrm>
            <a:off x="1123950" y="1573530"/>
            <a:ext cx="9780905" cy="392684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286385" y="303530"/>
            <a:ext cx="11557000" cy="60629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13715" y="264160"/>
            <a:ext cx="11080750" cy="645160"/>
          </a:xfrm>
          <a:prstGeom prst="rect">
            <a:avLst/>
          </a:prstGeom>
          <a:noFill/>
        </p:spPr>
        <p:txBody>
          <a:bodyPr wrap="square" rtlCol="0">
            <a:spAutoFit/>
          </a:bodyPr>
          <a:p>
            <a:r>
              <a:rPr lang="en-US"/>
              <a:t>Task 4: How does the fuel efficiency of cars vary across different body styles and model years?</a:t>
            </a:r>
            <a:endParaRPr lang="en-US"/>
          </a:p>
          <a:p>
            <a:r>
              <a:rPr lang="en-US"/>
              <a:t>Ans: </a:t>
            </a:r>
            <a:endParaRPr lang="en-US"/>
          </a:p>
        </p:txBody>
      </p:sp>
      <p:pic>
        <p:nvPicPr>
          <p:cNvPr id="3" name="Picture 2"/>
          <p:cNvPicPr>
            <a:picLocks noChangeAspect="1"/>
          </p:cNvPicPr>
          <p:nvPr/>
        </p:nvPicPr>
        <p:blipFill>
          <a:blip r:embed="rId1"/>
          <a:stretch>
            <a:fillRect/>
          </a:stretch>
        </p:blipFill>
        <p:spPr>
          <a:xfrm>
            <a:off x="513715" y="1101090"/>
            <a:ext cx="10913110" cy="497459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360045" y="430530"/>
            <a:ext cx="11347450" cy="589407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441960" y="1090295"/>
            <a:ext cx="5525770" cy="5170170"/>
          </a:xfrm>
          <a:prstGeom prst="rect">
            <a:avLst/>
          </a:prstGeom>
        </p:spPr>
      </p:pic>
      <p:sp>
        <p:nvSpPr>
          <p:cNvPr id="3" name="Text Box 2"/>
          <p:cNvSpPr txBox="1"/>
          <p:nvPr/>
        </p:nvSpPr>
        <p:spPr>
          <a:xfrm>
            <a:off x="441960" y="336550"/>
            <a:ext cx="11276330" cy="645160"/>
          </a:xfrm>
          <a:prstGeom prst="rect">
            <a:avLst/>
          </a:prstGeom>
          <a:noFill/>
        </p:spPr>
        <p:txBody>
          <a:bodyPr wrap="square" rtlCol="0">
            <a:spAutoFit/>
          </a:bodyPr>
          <a:p>
            <a:r>
              <a:rPr lang="en-US"/>
              <a:t>Task 5: How does the car's horsepower, MPG, and price vary across different Brands?</a:t>
            </a:r>
            <a:endParaRPr lang="en-US"/>
          </a:p>
          <a:p>
            <a:r>
              <a:rPr lang="en-US"/>
              <a:t>Ans:</a:t>
            </a:r>
            <a:endParaRPr lang="en-US"/>
          </a:p>
        </p:txBody>
      </p:sp>
      <p:pic>
        <p:nvPicPr>
          <p:cNvPr id="4" name="Picture 3"/>
          <p:cNvPicPr>
            <a:picLocks noChangeAspect="1"/>
          </p:cNvPicPr>
          <p:nvPr/>
        </p:nvPicPr>
        <p:blipFill>
          <a:blip r:embed="rId2"/>
          <a:stretch>
            <a:fillRect/>
          </a:stretch>
        </p:blipFill>
        <p:spPr>
          <a:xfrm>
            <a:off x="5967730" y="3429000"/>
            <a:ext cx="6004560" cy="28321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003040" y="1990725"/>
            <a:ext cx="4064000" cy="368300"/>
          </a:xfrm>
          <a:prstGeom prst="rect">
            <a:avLst/>
          </a:prstGeom>
          <a:noFill/>
        </p:spPr>
        <p:txBody>
          <a:bodyPr wrap="square" rtlCol="0">
            <a:spAutoFit/>
          </a:bodyPr>
          <a:p>
            <a:endParaRPr lang="en-US"/>
          </a:p>
        </p:txBody>
      </p:sp>
      <p:pic>
        <p:nvPicPr>
          <p:cNvPr id="2" name="Picture 1"/>
          <p:cNvPicPr>
            <a:picLocks noChangeAspect="1"/>
          </p:cNvPicPr>
          <p:nvPr/>
        </p:nvPicPr>
        <p:blipFill>
          <a:blip r:embed="rId1"/>
          <a:stretch>
            <a:fillRect/>
          </a:stretch>
        </p:blipFill>
        <p:spPr>
          <a:xfrm>
            <a:off x="212090" y="306070"/>
            <a:ext cx="11726545" cy="622363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410710" y="412750"/>
            <a:ext cx="2207895" cy="521970"/>
          </a:xfrm>
          <a:prstGeom prst="rect">
            <a:avLst/>
          </a:prstGeom>
          <a:noFill/>
        </p:spPr>
        <p:txBody>
          <a:bodyPr wrap="square" rtlCol="0">
            <a:spAutoFit/>
          </a:bodyPr>
          <a:p>
            <a:r>
              <a:rPr lang="en-US" sz="2800" b="1"/>
              <a:t>DASHBOARD </a:t>
            </a:r>
            <a:endParaRPr lang="en-US" sz="2800" b="1"/>
          </a:p>
        </p:txBody>
      </p:sp>
      <p:pic>
        <p:nvPicPr>
          <p:cNvPr id="3" name="Picture 2"/>
          <p:cNvPicPr>
            <a:picLocks noChangeAspect="1"/>
          </p:cNvPicPr>
          <p:nvPr/>
        </p:nvPicPr>
        <p:blipFill>
          <a:blip r:embed="rId1"/>
          <a:stretch>
            <a:fillRect/>
          </a:stretch>
        </p:blipFill>
        <p:spPr>
          <a:xfrm>
            <a:off x="313690" y="993140"/>
            <a:ext cx="11623040" cy="5588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83235" y="274320"/>
            <a:ext cx="11265535" cy="5174615"/>
          </a:xfrm>
          <a:prstGeom prst="rect">
            <a:avLst/>
          </a:prstGeom>
          <a:noFill/>
        </p:spPr>
        <p:txBody>
          <a:bodyPr wrap="square" rtlCol="0">
            <a:noAutofit/>
          </a:bodyPr>
          <a:p>
            <a:r>
              <a:rPr lang="en-US" sz="2000" b="1"/>
              <a:t>INSIGHTS</a:t>
            </a:r>
            <a:r>
              <a:rPr lang="en-US"/>
              <a:t> :</a:t>
            </a:r>
            <a:endParaRPr lang="en-US"/>
          </a:p>
          <a:p>
            <a:pPr marL="285750" indent="-285750">
              <a:buFont typeface="Arial" panose="020B0604020202020204" pitchFamily="34" charset="0"/>
              <a:buChar char="•"/>
            </a:pPr>
            <a:r>
              <a:rPr lang="en-US"/>
              <a:t> In the crossover market category, a high number of models are built, which means people are liking the crossover category more. </a:t>
            </a:r>
            <a:endParaRPr lang="en-US"/>
          </a:p>
          <a:p>
            <a:pPr marL="285750" indent="-285750">
              <a:buClr>
                <a:srgbClr val="000000"/>
              </a:buClr>
              <a:buFont typeface="Arial" panose="020B0604020202020204" pitchFamily="34" charset="0"/>
              <a:buChar char="•"/>
            </a:pPr>
            <a:r>
              <a:rPr lang="en-US"/>
              <a:t>The higher the engine hp the higher the price.</a:t>
            </a:r>
            <a:endParaRPr lang="en-US"/>
          </a:p>
          <a:p>
            <a:pPr marL="285750" indent="-285750">
              <a:buClr>
                <a:srgbClr val="000000"/>
              </a:buClr>
              <a:buFont typeface="Arial" panose="020B0604020202020204" pitchFamily="34" charset="0"/>
              <a:buChar char="•"/>
            </a:pPr>
            <a:r>
              <a:rPr lang="en-US"/>
              <a:t>The  engine cylinder has the strongest relationship with price.</a:t>
            </a:r>
            <a:endParaRPr lang="en-US"/>
          </a:p>
          <a:p>
            <a:pPr marL="285750" indent="-285750">
              <a:buClr>
                <a:srgbClr val="000000"/>
              </a:buClr>
              <a:buFont typeface="Arial" panose="020B0604020202020204" pitchFamily="34" charset="0"/>
              <a:buChar char="•"/>
            </a:pPr>
            <a:r>
              <a:rPr lang="en-US"/>
              <a:t>The no of door,</a:t>
            </a:r>
            <a:r>
              <a:rPr lang="en-US">
                <a:sym typeface="+mn-ea"/>
              </a:rPr>
              <a:t>Highway mpg &amp; city mpg</a:t>
            </a:r>
            <a:r>
              <a:rPr lang="en-US"/>
              <a:t> has a weak relation with price.</a:t>
            </a:r>
            <a:endParaRPr lang="en-US"/>
          </a:p>
          <a:p>
            <a:pPr marL="285750" indent="-285750">
              <a:buClr>
                <a:srgbClr val="000000"/>
              </a:buClr>
              <a:buFont typeface="Arial" panose="020B0604020202020204" pitchFamily="34" charset="0"/>
              <a:buChar char="•"/>
            </a:pPr>
            <a:r>
              <a:rPr lang="en-US"/>
              <a:t>Buggati brand car has the higest avg MSRP &amp; plymouth brand car has the lowest avg MSRP. </a:t>
            </a:r>
            <a:endParaRPr lang="en-US"/>
          </a:p>
          <a:p>
            <a:pPr marL="285750" indent="-285750">
              <a:buFont typeface="Arial" panose="020B0604020202020204" pitchFamily="34" charset="0"/>
              <a:buChar char="•"/>
            </a:pPr>
            <a:r>
              <a:rPr lang="en-US"/>
              <a:t>Fewer  engine  cylinders  give  more  highway  MPG,  which  can  attract customers to buy the car. </a:t>
            </a:r>
            <a:endParaRPr lang="en-US"/>
          </a:p>
          <a:p>
            <a:pPr marL="285750" indent="-285750">
              <a:buFont typeface="Arial" panose="020B0604020202020204" pitchFamily="34" charset="0"/>
              <a:buChar char="•"/>
            </a:pPr>
            <a:r>
              <a:rPr lang="en-US"/>
              <a:t>Sedan, 4-door SUV, and coupe vehicle styles have high MRP, which we can use to make the car profitable. </a:t>
            </a:r>
            <a:endParaRPr lang="en-US"/>
          </a:p>
          <a:p>
            <a:pPr marL="285750" indent="-285750">
              <a:buFont typeface="Arial" panose="020B0604020202020204" pitchFamily="34" charset="0"/>
              <a:buChar char="•"/>
            </a:pPr>
            <a:r>
              <a:rPr lang="en-US"/>
              <a:t>Automatic and  automatic manual  transmissions are loved by customers and  can  be  priced  high.  From  insights,    we  can  see  that  people  are continuously  buying  them  despite  their  high  price,  which  can  be  used  to make our cars profitable. </a:t>
            </a:r>
            <a:endParaRPr lang="en-US"/>
          </a:p>
          <a:p>
            <a:pPr marL="285750" indent="-285750">
              <a:buFont typeface="Arial" panose="020B0604020202020204" pitchFamily="34" charset="0"/>
              <a:buChar char="•"/>
            </a:pPr>
            <a:r>
              <a:rPr lang="en-US"/>
              <a:t>New models have high MPG due to modifications . </a:t>
            </a:r>
            <a:endParaRPr lang="en-US"/>
          </a:p>
          <a:p>
            <a:pPr marL="285750" indent="-285750">
              <a:buFont typeface="Arial" panose="020B0604020202020204" pitchFamily="34" charset="0"/>
              <a:buChar char="•"/>
            </a:pPr>
            <a:r>
              <a:rPr lang="en-US"/>
              <a:t>Sedans and hatchbacks give higher average MPG. </a:t>
            </a:r>
            <a:endParaRPr lang="en-US"/>
          </a:p>
          <a:p>
            <a:pPr indent="0">
              <a:buFont typeface="Arial" panose="020B0604020202020204" pitchFamily="34" charset="0"/>
              <a:buNone/>
            </a:pPr>
            <a:r>
              <a:rPr lang="en-US"/>
              <a:t>By  utilizing  the  insights , we  can  make  data-driven  decisions  to  optimize  the  cost  and  profitability  of  our  cars,  as well as establish our position in the car market. This will help us create more  appealing  and  competitive  models  that  attract  customers  and increase sales.</a:t>
            </a:r>
            <a:endParaRPr lang="en-US"/>
          </a:p>
          <a:p>
            <a:pPr marL="285750" indent="-285750">
              <a:buFont typeface="Arial" panose="020B0604020202020204" pitchFamily="34" charset="0"/>
              <a:buChar char="•"/>
            </a:pPr>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58495" y="490855"/>
            <a:ext cx="10597515" cy="2822575"/>
          </a:xfrm>
          <a:prstGeom prst="rect">
            <a:avLst/>
          </a:prstGeom>
          <a:noFill/>
        </p:spPr>
        <p:txBody>
          <a:bodyPr wrap="square" rtlCol="0">
            <a:noAutofit/>
          </a:bodyPr>
          <a:p>
            <a:r>
              <a:rPr lang="en-US" sz="2000" b="1"/>
              <a:t>RESULTS:</a:t>
            </a:r>
            <a:r>
              <a:rPr lang="en-US"/>
              <a:t> </a:t>
            </a:r>
            <a:endParaRPr lang="en-US"/>
          </a:p>
          <a:p>
            <a:pPr marL="285750" indent="-285750">
              <a:buFont typeface="Arial" panose="020B0604020202020204" pitchFamily="34" charset="0"/>
              <a:buChar char="•"/>
            </a:pPr>
            <a:r>
              <a:rPr lang="en-US"/>
              <a:t>Based on the analysis, it appears that the crossover market category are more popular among customers, indicating that more people are buying them at a higher rate.  </a:t>
            </a:r>
            <a:endParaRPr lang="en-US"/>
          </a:p>
          <a:p>
            <a:pPr marL="285750" indent="-285750">
              <a:buFont typeface="Arial" panose="020B0604020202020204" pitchFamily="34" charset="0"/>
              <a:buChar char="•"/>
            </a:pPr>
            <a:r>
              <a:rPr lang="en-US">
                <a:sym typeface="+mn-ea"/>
              </a:rPr>
              <a:t>Sedan, 4-door SUV, and coupe vehicle styles have high MRP, which we can use to make the car profitable.</a:t>
            </a:r>
            <a:endParaRPr lang="en-US"/>
          </a:p>
          <a:p>
            <a:pPr marL="285750" indent="-285750">
              <a:buFont typeface="Arial" panose="020B0604020202020204" pitchFamily="34" charset="0"/>
              <a:buChar char="•"/>
            </a:pPr>
            <a:r>
              <a:rPr lang="en-US"/>
              <a:t>In  the  future,  as  people  appreciate  vehicles  that  provide  high  fuel efficiency  at  a  low  cost,  electric  cars  with  high  mileage  and  fewer cylinders may be more popular. </a:t>
            </a:r>
            <a:endParaRPr lang="en-US"/>
          </a:p>
          <a:p>
            <a:pPr marL="285750" indent="-285750">
              <a:buFont typeface="Arial" panose="020B0604020202020204" pitchFamily="34" charset="0"/>
              <a:buChar char="•"/>
            </a:pPr>
            <a:r>
              <a:rPr lang="en-US"/>
              <a:t>We cannot perform regression analysis on categorical values when the dependent variable is a numerical value such as price.</a:t>
            </a:r>
            <a:endParaRPr lang="en-US"/>
          </a:p>
        </p:txBody>
      </p:sp>
      <p:sp>
        <p:nvSpPr>
          <p:cNvPr id="3" name="Text Box 2"/>
          <p:cNvSpPr txBox="1"/>
          <p:nvPr/>
        </p:nvSpPr>
        <p:spPr>
          <a:xfrm>
            <a:off x="658495" y="3505200"/>
            <a:ext cx="4064000" cy="368300"/>
          </a:xfrm>
          <a:prstGeom prst="rect">
            <a:avLst/>
          </a:prstGeom>
          <a:noFill/>
        </p:spPr>
        <p:txBody>
          <a:bodyPr wrap="square" rtlCol="0">
            <a:spAutoFit/>
          </a:bodyPr>
          <a:p>
            <a:r>
              <a:rPr lang="en-US"/>
              <a:t>PROJECT LINK: </a:t>
            </a:r>
            <a:endParaRPr lang="en-US"/>
          </a:p>
        </p:txBody>
      </p:sp>
      <p:sp>
        <p:nvSpPr>
          <p:cNvPr id="4" name="Text Box 3"/>
          <p:cNvSpPr txBox="1"/>
          <p:nvPr/>
        </p:nvSpPr>
        <p:spPr>
          <a:xfrm>
            <a:off x="658495" y="3873500"/>
            <a:ext cx="8766175" cy="645160"/>
          </a:xfrm>
          <a:prstGeom prst="rect">
            <a:avLst/>
          </a:prstGeom>
          <a:noFill/>
        </p:spPr>
        <p:txBody>
          <a:bodyPr wrap="square" rtlCol="0">
            <a:spAutoFit/>
          </a:bodyPr>
          <a:p>
            <a:r>
              <a:rPr lang="en-US">
                <a:hlinkClick r:id="rId1" action="ppaction://hlinkfile"/>
              </a:rPr>
              <a:t>https://docs.google.com/spreadsheets/d/1R9bB0-1Fg2Hk2-dycRy-kpxHrrUWJ3sQ/edit?usp=drivesdk&amp;ouid=111398243446314990339&amp;rtpof=true&amp;sd=true</a:t>
            </a:r>
            <a:endParaRPr lang="en-US"/>
          </a:p>
        </p:txBody>
      </p:sp>
      <p:sp>
        <p:nvSpPr>
          <p:cNvPr id="5" name="Text Box 4"/>
          <p:cNvSpPr txBox="1"/>
          <p:nvPr/>
        </p:nvSpPr>
        <p:spPr>
          <a:xfrm>
            <a:off x="658495" y="4846955"/>
            <a:ext cx="4064000" cy="368300"/>
          </a:xfrm>
          <a:prstGeom prst="rect">
            <a:avLst/>
          </a:prstGeom>
          <a:noFill/>
        </p:spPr>
        <p:txBody>
          <a:bodyPr wrap="square" rtlCol="0">
            <a:spAutoFit/>
          </a:bodyPr>
          <a:p>
            <a:r>
              <a:rPr lang="en-US"/>
              <a:t>Dashboard link:</a:t>
            </a:r>
            <a:endParaRPr lang="en-US"/>
          </a:p>
        </p:txBody>
      </p:sp>
      <p:sp>
        <p:nvSpPr>
          <p:cNvPr id="6" name="Text Box 5"/>
          <p:cNvSpPr txBox="1"/>
          <p:nvPr/>
        </p:nvSpPr>
        <p:spPr>
          <a:xfrm>
            <a:off x="739140" y="5289550"/>
            <a:ext cx="8604250" cy="645160"/>
          </a:xfrm>
          <a:prstGeom prst="rect">
            <a:avLst/>
          </a:prstGeom>
          <a:noFill/>
        </p:spPr>
        <p:txBody>
          <a:bodyPr wrap="square" rtlCol="0">
            <a:spAutoFit/>
          </a:bodyPr>
          <a:p>
            <a:r>
              <a:rPr lang="en-US">
                <a:hlinkClick r:id="rId2" tooltip="" action="ppaction://hlinkfile"/>
              </a:rPr>
              <a:t>https://public.tableau.com/views/caranalysis_16932099114040/Dashboard?:language=en-US&amp;publish=yes&amp;:display_count=n&amp;:origin=viz_share_link</a:t>
            </a:r>
            <a:endParaRPr lang="en-US"/>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693160" y="2332355"/>
            <a:ext cx="4064000" cy="1106805"/>
          </a:xfrm>
          <a:prstGeom prst="rect">
            <a:avLst/>
          </a:prstGeom>
          <a:noFill/>
        </p:spPr>
        <p:txBody>
          <a:bodyPr wrap="square" rtlCol="0">
            <a:spAutoFit/>
          </a:bodyPr>
          <a:p>
            <a:r>
              <a:rPr lang="en-US" sz="6600" b="1"/>
              <a:t>Thank You</a:t>
            </a:r>
            <a:endParaRPr lang="en-US" sz="6600" b="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7749</Words>
  <Application>WPS Presentation</Application>
  <PresentationFormat>Widescreen</PresentationFormat>
  <Paragraphs>98</Paragraphs>
  <Slides>27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27</vt:i4>
      </vt:variant>
    </vt:vector>
  </HeadingPairs>
  <TitlesOfParts>
    <vt:vector size="35" baseType="lpstr">
      <vt:lpstr>Arial</vt:lpstr>
      <vt:lpstr>SimSun</vt:lpstr>
      <vt:lpstr>Wingdings</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sonal</dc:creator>
  <cp:lastModifiedBy>sonal</cp:lastModifiedBy>
  <cp:revision>16</cp:revision>
  <dcterms:created xsi:type="dcterms:W3CDTF">2023-08-28T08:12:00Z</dcterms:created>
  <dcterms:modified xsi:type="dcterms:W3CDTF">2023-09-01T04:41:32Z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A8E789DDE2054D31A636B188FF314C21_11</vt:lpwstr>
  </property>
  <property fmtid="{D5CDD505-2E9C-101B-9397-08002B2CF9AE}" pid="3" name="KSOProductBuildVer">
    <vt:lpwstr>1033-12.2.0.13193</vt:lpwstr>
  </property>
</Properties>
</file>