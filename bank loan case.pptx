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92" r:id="rId4"/>
    <p:sldId id="291" r:id="rId5"/>
    <p:sldId id="290" r:id="rId6"/>
    <p:sldId id="289" r:id="rId7"/>
    <p:sldId id="344" r:id="rId8"/>
    <p:sldId id="288" r:id="rId9"/>
    <p:sldId id="287" r:id="rId10"/>
    <p:sldId id="286" r:id="rId11"/>
    <p:sldId id="285" r:id="rId12"/>
    <p:sldId id="284" r:id="rId13"/>
    <p:sldId id="283" r:id="rId14"/>
    <p:sldId id="282" r:id="rId15"/>
    <p:sldId id="281" r:id="rId16"/>
    <p:sldId id="280" r:id="rId17"/>
    <p:sldId id="279" r:id="rId18"/>
    <p:sldId id="278" r:id="rId19"/>
    <p:sldId id="277" r:id="rId20"/>
    <p:sldId id="276" r:id="rId21"/>
    <p:sldId id="275" r:id="rId22"/>
    <p:sldId id="274" r:id="rId23"/>
    <p:sldId id="273" r:id="rId24"/>
    <p:sldId id="272" r:id="rId25"/>
    <p:sldId id="271" r:id="rId26"/>
    <p:sldId id="270" r:id="rId27"/>
    <p:sldId id="269" r:id="rId28"/>
    <p:sldId id="268" r:id="rId29"/>
    <p:sldId id="267" r:id="rId30"/>
    <p:sldId id="266" r:id="rId31"/>
    <p:sldId id="265" r:id="rId32"/>
    <p:sldId id="264" r:id="rId33"/>
    <p:sldId id="263" r:id="rId34"/>
    <p:sldId id="262" r:id="rId35"/>
    <p:sldId id="261" r:id="rId36"/>
    <p:sldId id="260" r:id="rId37"/>
    <p:sldId id="259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5" r:id="rId57"/>
    <p:sldId id="394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4.xml"/><Relationship Id="rId59" Type="http://schemas.openxmlformats.org/officeDocument/2006/relationships/presProps" Target="presProps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ocs.google.com/spreadsheets/d/1NEveJooSLHrb9U2_QZp_AG-g2WDMrTF5/edit?usp=drivesdk&amp;ouid=111398243446314990339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446780" y="2009140"/>
            <a:ext cx="5165090" cy="821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 Loan Case Study Analysis</a:t>
            </a:r>
            <a:endParaRPr 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693785" y="5795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santosh lal choudhury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04925" y="5499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Description</a:t>
            </a:r>
            <a:endParaRPr 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43940" y="1689735"/>
            <a:ext cx="10013950" cy="339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main aim of this project is to identify patterns that indicate if a customer will have difficulty paying their installments.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This information can be used to make decisions such as denying the loan, reducing the amount of loan, or lending at a higher interest rate to risky applicants.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company wants to understand the key factors behind loan default so it can make better decisions about loan approval.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dataset we will be working with contains information about loan applications. It includes two types of scenarios: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Customers with payment difficulties (1): These are customers who had a late payment of more than X days on at least one of the first Y installments of the loan.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other cases(0): These are cases where the payment was made on time.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14450" y="3759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 done</a:t>
            </a:r>
            <a:r>
              <a:rPr lang="en-US"/>
              <a:t> 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81025" y="1433195"/>
            <a:ext cx="10648315" cy="4377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steps: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Identified Missing Data and handle missing data effectively to ensure the accuracy of the analysis by applying  EDA to the Data Set.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 Identified outliers in the loan application dataset by using functions like QUARTILE, IQR, and conditional formatting to identify potential outliers.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Analyzed Data Imbalance in the loan application dataset and calculated the ratio of data imbalance.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Performed Univariate, Segmented Univariate, and Bivariate Analysis to gain insights into the driving factors of loan default.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 Identified Top Correlations for Different Scenarios and  identified the top correlations for each segmented data.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48100" y="4857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Tech-Stack Used</a:t>
            </a:r>
            <a:endParaRPr 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35760" y="1308735"/>
            <a:ext cx="9208135" cy="44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>
                <a:sym typeface="+mn-ea"/>
              </a:rPr>
              <a:t>PP</a:t>
            </a:r>
            <a:r>
              <a:rPr lang="en-IN" altLang="en-US">
                <a:sym typeface="+mn-ea"/>
              </a:rPr>
              <a:t>-WPS OFFICE, </a:t>
            </a:r>
            <a:r>
              <a:rPr lang="en-IN" altLang="en-US" b="1">
                <a:sym typeface="+mn-ea"/>
              </a:rPr>
              <a:t>Product Version</a:t>
            </a:r>
            <a:r>
              <a:rPr lang="en-IN" altLang="en-US">
                <a:sym typeface="+mn-ea"/>
              </a:rPr>
              <a:t>-12.2.0.13085 ,</a:t>
            </a:r>
            <a:r>
              <a:rPr lang="en-IN" altLang="en-US" b="1">
                <a:sym typeface="+mn-ea"/>
              </a:rPr>
              <a:t>Publisher</a:t>
            </a:r>
            <a:r>
              <a:rPr lang="en-IN" altLang="en-US">
                <a:sym typeface="+mn-ea"/>
              </a:rPr>
              <a:t>-Kingsoft corp.</a:t>
            </a:r>
            <a:endParaRPr lang="en-IN" alt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Screenshot 2023-08-18 0932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1847850"/>
            <a:ext cx="11450955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65150" y="496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Missing values :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 descr="Screenshot 2023-08-18 083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" y="864870"/>
            <a:ext cx="11891010" cy="444119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151255" y="5445125"/>
            <a:ext cx="9928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Bar with dark orange represents the missing values.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Bar with light orange presents total no of values.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Then removed the blank cells and unwanted column having more than 30% of blank value.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63140" y="548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propotion of defaulters in total loan:</a:t>
            </a:r>
            <a:endParaRPr lang="en-US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074420"/>
            <a:ext cx="10248900" cy="44723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81455" y="5815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their are total 4026 defaulters.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06425" y="125730"/>
            <a:ext cx="4794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Outliers in the cnt_children(for target 0 &amp;1)</a:t>
            </a:r>
            <a:r>
              <a:rPr lang="en-US"/>
              <a:t>:</a:t>
            </a:r>
            <a:endParaRPr lang="en-US"/>
          </a:p>
        </p:txBody>
      </p:sp>
      <p:pic>
        <p:nvPicPr>
          <p:cNvPr id="3" name="Picture 2" descr="Screenshot 2023-08-18 0949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58800"/>
            <a:ext cx="11955145" cy="45256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93165" y="5373370"/>
            <a:ext cx="10174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Considering the present world population senerio having more than 3 children is not possible for some but may be possible for some person,so it needs to be futher investigated to check if the data entered is accurate or not.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According to the statistic performed on the data ,targets having more than 3 children is an outlier.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07745" y="321310"/>
            <a:ext cx="456819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Outliers in the amt_income(for target 0 &amp;1)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endParaRPr lang="en-US"/>
          </a:p>
        </p:txBody>
      </p:sp>
      <p:pic>
        <p:nvPicPr>
          <p:cNvPr id="3" name="Picture 2" descr="Screenshot 2023-08-18 1006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" y="751205"/>
            <a:ext cx="11628120" cy="41846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47700" y="5249545"/>
            <a:ext cx="10977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after applying statistic to the data i get to know that income greater than 337500 are outlier but in real case senerio income greater than 337500 are valid data points.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85" y="762000"/>
            <a:ext cx="11797665" cy="47167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81685" y="269875"/>
            <a:ext cx="627570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Outliers in the age(for target 0 &amp;1)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645920" y="5733415"/>
            <a:ext cx="5956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their are no outlier in age column data are valid.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43280" y="290195"/>
            <a:ext cx="468122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Outliers in the days_employed(for target 0 &amp;1)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702310"/>
            <a:ext cx="11656695" cy="40392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04875" y="5012690"/>
            <a:ext cx="10360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outlier present in the dataset are not valid as a human cant live for 1000 years so how can he be employed for 1000yr,so the data point is not valid and need futher investigation.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3395" y="259080"/>
            <a:ext cx="6070600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Outliers in the Amt_credit(for target 0 &amp;1)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" y="665480"/>
            <a:ext cx="11527155" cy="44780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27835" y="5455285"/>
            <a:ext cx="974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outlier present in this data are valid because their is no fix amount given in credit.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91845" y="208280"/>
            <a:ext cx="4824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Outliers in the Amt_Annuity(for target 0 &amp;1)</a:t>
            </a:r>
            <a:r>
              <a:rPr lang="en-US">
                <a:sym typeface="+mn-ea"/>
              </a:rPr>
              <a:t>: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576580"/>
            <a:ext cx="11674475" cy="38811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131570" y="4992370"/>
            <a:ext cx="9949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outlier present in this are valid as annuity amount depends on the credit amount ie. higher credit amount=higher annuity to be paid.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91845" y="198120"/>
            <a:ext cx="6151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Data Imbalance in contract_type(for target 0 &amp;1)</a:t>
            </a:r>
            <a:r>
              <a:rPr lang="en-US">
                <a:sym typeface="+mn-ea"/>
              </a:rPr>
              <a:t>: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70" y="640715"/>
            <a:ext cx="10660380" cy="43218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38630" y="5321935"/>
            <a:ext cx="671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data imbalance  ratio is 9.5:1.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their are more cash loan as compair to revolving loan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04875" y="269875"/>
            <a:ext cx="6790055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Data Imbalance in target(for target 0 &amp;1)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" y="830580"/>
            <a:ext cx="11064240" cy="37363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25830" y="4817745"/>
            <a:ext cx="5525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ratio between 0&amp;1 is 11.4:1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target 1 is only 8% and target 0 is 92% total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04875" y="259715"/>
            <a:ext cx="451675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Data Imbalance in gender(for target 0 &amp;1)</a:t>
            </a:r>
            <a:r>
              <a:rPr lang="en-US">
                <a:sym typeface="+mn-ea"/>
              </a:rPr>
              <a:t>: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628015"/>
            <a:ext cx="10835640" cy="37795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573530" y="47453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66% are female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34%are male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07745" y="280035"/>
            <a:ext cx="5525135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Data Imbalance in cnt_children(for target 0 &amp;1)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09930"/>
            <a:ext cx="11479530" cy="38100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059180" y="48177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70% are with no children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20% are with 1 children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8.6% are with 2children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50570" y="249555"/>
            <a:ext cx="6595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Data Imbalance in education(for target 0 &amp;1)</a:t>
            </a:r>
            <a:r>
              <a:rPr lang="en-US">
                <a:sym typeface="+mn-ea"/>
              </a:rPr>
              <a:t>: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40" y="727710"/>
            <a:ext cx="11550650" cy="37465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080135" y="4776470"/>
            <a:ext cx="840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71% are with secondary/secondary special education classification.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49020" y="311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univeriate analysis of defatulters(1)</a:t>
            </a:r>
            <a:endParaRPr 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" y="2072005"/>
            <a:ext cx="11936730" cy="271399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99135" y="928370"/>
            <a:ext cx="10236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Univariate analysis is the simplest form of analyzing data. Uni means "one", so the data has only one variable (univariate).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03555" y="187325"/>
            <a:ext cx="614172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income(1)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80" y="555625"/>
            <a:ext cx="10981690" cy="33680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275080" y="4385310"/>
            <a:ext cx="753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Defaulters are more with income range of 25650-725650 .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97585" y="342265"/>
            <a:ext cx="6913880" cy="38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Amt_credit(1)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75" y="695325"/>
            <a:ext cx="10642600" cy="40189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32890" y="5105400"/>
            <a:ext cx="7160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targets with higher credit amt will less likely to become a defaulter.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54990" y="280035"/>
            <a:ext cx="7191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univeriate analysis of defatulters age(1)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20725"/>
            <a:ext cx="11449685" cy="42030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841500" y="5300980"/>
            <a:ext cx="6625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middle age or lower age people are more likey to default.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defaulters count decreases at higher age.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13715" y="362585"/>
            <a:ext cx="5998210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employment(1)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" y="770890"/>
            <a:ext cx="11335385" cy="35769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553210" y="4806950"/>
            <a:ext cx="6729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0-20 yr of employment is more likely to default.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4510" y="208280"/>
            <a:ext cx="7706360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housing(1)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607060"/>
            <a:ext cx="11220450" cy="30403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717675" y="4086860"/>
            <a:ext cx="9115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house/apartment are most likely to default. 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86105" y="269875"/>
            <a:ext cx="7418705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Family status(1)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" y="771525"/>
            <a:ext cx="11136630" cy="31699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028700" y="4436745"/>
            <a:ext cx="9310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married persons are more likely to default.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44830" y="382905"/>
            <a:ext cx="665670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income type(1)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240" y="838835"/>
            <a:ext cx="11539220" cy="36163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19225" y="4899660"/>
            <a:ext cx="7828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count of defaulter is more in working type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And count of defaulter is less in unemployed and state servent.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948055"/>
            <a:ext cx="11106150" cy="34690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46150" y="290195"/>
            <a:ext cx="6841490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Education type(1)</a:t>
            </a:r>
            <a:endParaRPr 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223645" y="4920615"/>
            <a:ext cx="10144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secondary/secondary special education have higher rate of defaulters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higher education are less likely to default.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3395" y="300990"/>
            <a:ext cx="821055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occupation type(1)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50570"/>
            <a:ext cx="11325225" cy="36703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954530" y="4714875"/>
            <a:ext cx="9475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laborers and sales staff occupation has the higher rate of defaulters.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it or hr occupation has the lowest rate of defaulters.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0250" y="228600"/>
            <a:ext cx="8498205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annuity amt(1)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05" y="747395"/>
            <a:ext cx="11152505" cy="38823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47240" y="4858385"/>
            <a:ext cx="9083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rate of defaulter decreases as the annuity amt increases.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annuity amt is high then a person is less likely to default.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99135" y="259715"/>
            <a:ext cx="7469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univeriate analysis of defatulters cnt_children(1)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45" y="723265"/>
            <a:ext cx="11139805" cy="30251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923415" y="4385310"/>
            <a:ext cx="776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no children will most likely to default.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4670" y="249555"/>
            <a:ext cx="7407275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goods price(1)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658495"/>
            <a:ext cx="11337925" cy="42881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46150" y="5249545"/>
            <a:ext cx="9598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loan given to a person with good price range between 433665-481500 is most likely to default.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4670" y="290195"/>
            <a:ext cx="6296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univeriate analysis of defatulters days registration(1)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264920" y="5280660"/>
            <a:ext cx="10257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a person change its registration within 31 yr , the person might default its payment.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As the day of registration increases the count of defaulters decraeses.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" y="734060"/>
            <a:ext cx="10475595" cy="35998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75945" y="187325"/>
            <a:ext cx="870331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organization type(1)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85" y="590550"/>
            <a:ext cx="11083925" cy="42062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296035" y="5177790"/>
            <a:ext cx="9763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from organization like bussiness entity type 3 , self employed &amp; xna are more likely to default.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47700" y="321310"/>
            <a:ext cx="6492240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univeriate analysis of defatulters phone_change(1)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15" y="729615"/>
            <a:ext cx="10953115" cy="35725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97585" y="4755515"/>
            <a:ext cx="104559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a person changed its phone within 0-6 yr before applying for loan,then he/she is more likely to default.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a person did not change the number before applying for loan the he/she will less likely to default its payment.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86105" y="352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Segmented univeriate analysis by gender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86105" y="4274185"/>
            <a:ext cx="9738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Female target took more loan as compair to males.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 males tend to default more as compair to female.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720725"/>
            <a:ext cx="115443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4510" y="238760"/>
            <a:ext cx="5864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Segmented univeriate analysis by amt_income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10" y="676275"/>
            <a:ext cx="10911840" cy="41681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39775" y="5053965"/>
            <a:ext cx="10473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preson with income 25650-325650 is likely to take loan.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person with higher income does not need a loan.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3075" y="198120"/>
            <a:ext cx="5875020" cy="34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Segmented univeriate analysis by amt_income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" y="713740"/>
            <a:ext cx="11755755" cy="41135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68655" y="415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306195" y="5105400"/>
            <a:ext cx="9227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higher the credit amount the lesser chance of getting a defaulters.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defaulter count is high at lower credit amt.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70205" y="280035"/>
            <a:ext cx="673925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Segmented univeriate analysis by amt_annuity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" y="749935"/>
            <a:ext cx="10951845" cy="392874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77265" y="5095240"/>
            <a:ext cx="816927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higher the annuity amt the less chance of getting defaulters.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but count of payers are more as compair to defaulters at low annuity amt.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2280" y="218440"/>
            <a:ext cx="6903720" cy="367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Segmented univeriate analysis by housing</a:t>
            </a:r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" y="709930"/>
            <a:ext cx="11736705" cy="33604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62280" y="4509135"/>
            <a:ext cx="10894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person with house/apartment has a high chance to take a loan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But defaulter rate is also high with the person having house/appartment as they may have other emi’s to pay.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97815" y="259715"/>
            <a:ext cx="7335520" cy="397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Segmented univeriate analysis by birth</a:t>
            </a: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718820"/>
            <a:ext cx="1091311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0365" y="187325"/>
            <a:ext cx="6573520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Segmented univeriate analysis by days employed</a:t>
            </a: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" y="897255"/>
            <a:ext cx="11630660" cy="34594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" y="236855"/>
            <a:ext cx="11811635" cy="22129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5" y="2741930"/>
            <a:ext cx="11811000" cy="270129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05" y="0"/>
            <a:ext cx="10144125" cy="29248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3112770"/>
            <a:ext cx="11760835" cy="34721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57860" y="300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Biveriate analysis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158240"/>
            <a:ext cx="11963400" cy="45415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635760" y="5908040"/>
            <a:ext cx="913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their is an uneven relationship between income and credit.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" y="175895"/>
            <a:ext cx="10843260" cy="33375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35990" y="3994150"/>
            <a:ext cx="7058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male tends to take higher credit amt as compair to female.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80" y="212090"/>
            <a:ext cx="11626850" cy="42627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20090" y="4920615"/>
            <a:ext cx="10873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amt_credit and amt_annuity has a posivite relation between them,the higher the credit the higher the annuity amt.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" y="175260"/>
            <a:ext cx="10942320" cy="34213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78815" y="4117975"/>
            <a:ext cx="10349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businessman tends to get higher credit_amt.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" y="156845"/>
            <a:ext cx="12001500" cy="37871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87425" y="4457700"/>
            <a:ext cx="10124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academic degree &amp; higher education person takes high credit amt.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104140"/>
            <a:ext cx="11010900" cy="31318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22960" y="3850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married person takes high loan.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85" y="114300"/>
            <a:ext cx="10014585" cy="37490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84555" y="4292600"/>
            <a:ext cx="9485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house/appartment,municipal apartment and officce appartment takes high loan.</a:t>
            </a: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37795"/>
            <a:ext cx="10934700" cy="29413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25830" y="3839845"/>
            <a:ext cx="978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age between 41-61 takes higher loan.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35890"/>
            <a:ext cx="10797540" cy="33756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17905" y="4107815"/>
            <a:ext cx="10380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days employed between 20-60 take high loan.</a:t>
            </a: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" y="157480"/>
            <a:ext cx="12016740" cy="41148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43280" y="4704080"/>
            <a:ext cx="1058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person with occupation type accountants,managers,etc take high loans</a:t>
            </a:r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27380" y="2597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Correlation of defaulters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" y="628015"/>
            <a:ext cx="11539855" cy="211709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54990" y="2976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correlation of payers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" y="3429000"/>
            <a:ext cx="11540490" cy="22510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27380" y="5989955"/>
            <a:ext cx="1114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cells mark with green has strong correlation,cells mark with yellow &amp;orange has modarate correlation &amp; cells with red mark has weak correlation.</a:t>
            </a:r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12165" y="3314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Insights:</a:t>
            </a:r>
            <a:endParaRPr lang="en-US" sz="2800" b="1"/>
          </a:p>
        </p:txBody>
      </p:sp>
      <p:sp>
        <p:nvSpPr>
          <p:cNvPr id="4" name="Text Box 3"/>
          <p:cNvSpPr txBox="1"/>
          <p:nvPr/>
        </p:nvSpPr>
        <p:spPr>
          <a:xfrm>
            <a:off x="524510" y="853440"/>
            <a:ext cx="109569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Their are less count of defaulters in total loan in comparison to count of non-defaulters.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 Amt_income_total</a:t>
            </a:r>
            <a:r>
              <a:rPr lang="en-US"/>
              <a:t> :Applicants with income more than 3,25,650 are less likely to default.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amt_credit</a:t>
            </a:r>
            <a:r>
              <a:rPr lang="en-US"/>
              <a:t>:risk of having a defaulter is high at low credit amount.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bank can earn profit by keeping higher annuity amount as their are less defaulters at higer annuity.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Education type</a:t>
            </a:r>
            <a:r>
              <a:rPr lang="en-US"/>
              <a:t>:academic degree has no defaulter.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Income_type</a:t>
            </a:r>
            <a:r>
              <a:rPr lang="en-US"/>
              <a:t>:Student,bussinessman &amp; maternity leave have no defaulters.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Organization_type</a:t>
            </a:r>
            <a:r>
              <a:rPr lang="en-US"/>
              <a:t>:</a:t>
            </a:r>
            <a:r>
              <a:rPr lang="en-US">
                <a:sym typeface="+mn-ea"/>
              </a:rPr>
              <a:t>Applicants from organization like bussiness entity type 3 , self employed &amp; xna are more likely to default.</a:t>
            </a:r>
            <a:endParaRPr 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Days_birth</a:t>
            </a:r>
            <a:r>
              <a:rPr lang="en-US"/>
              <a:t>:People above age 50 have low probability of defaulting.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Days_employeed</a:t>
            </a:r>
            <a:r>
              <a:rPr lang="en-US"/>
              <a:t>:applicants with 40+ year of experience has less default rate.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Cnt_children</a:t>
            </a:r>
            <a:r>
              <a:rPr lang="en-US"/>
              <a:t>:Applicants with  children are less likely to default.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Code_gender</a:t>
            </a:r>
            <a:r>
              <a:rPr lang="en-US"/>
              <a:t>:Mens are at relatively have higher default rate.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Name_family_status</a:t>
            </a:r>
            <a:r>
              <a:rPr lang="en-US"/>
              <a:t>:Applicants who are single/civilmarriage default a lot.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Occupation_type</a:t>
            </a:r>
            <a:r>
              <a:rPr lang="en-US"/>
              <a:t>:avoid lowskill laborers,Sales_staff,drivers,waiter staff,securirt staff ,laborers&amp;cooking staff as their default rate is high.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Phone_change:</a:t>
            </a:r>
            <a:r>
              <a:rPr lang="en-US">
                <a:sym typeface="+mn-ea"/>
              </a:rPr>
              <a:t>if an applicant changed its phone within 0-6 yr before applying for loan,then he/she is more likely to default.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22960" y="21844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Result:</a:t>
            </a:r>
            <a:endParaRPr lang="en-US" sz="2000" b="1"/>
          </a:p>
        </p:txBody>
      </p:sp>
      <p:sp>
        <p:nvSpPr>
          <p:cNvPr id="3" name="Text Box 2"/>
          <p:cNvSpPr txBox="1"/>
          <p:nvPr/>
        </p:nvSpPr>
        <p:spPr>
          <a:xfrm>
            <a:off x="647700" y="753745"/>
            <a:ext cx="109048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Ater performing the analysis we can rectify whether a applicant will repay the loan or not.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people who are likely to face problem in loan repayment are labourers.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people with secondary/secondary special education might face problem in loan repayment.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Moreover those who are living in house/apartment are facing difficulty in loan repayment.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loan highly recommended group</a:t>
            </a:r>
            <a:r>
              <a:rPr lang="en-US">
                <a:sym typeface="+mn-ea"/>
              </a:rPr>
              <a:t>:married client,senior clients, more educated clints,applicants with high income,females,applicants with strong work exprience.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loan highly risk group</a:t>
            </a:r>
            <a:r>
              <a:rPr lang="en-US">
                <a:sym typeface="+mn-ea"/>
              </a:rPr>
              <a:t>:Applicants that are unemployed,youth applicants,applicants with low income,applicants with little work experience,applicants with no children,applicants who have recently changed their phone.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60900" y="2106930"/>
            <a:ext cx="63779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End</a:t>
            </a:r>
            <a:endParaRPr lang="en-US" sz="80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63600" y="4519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email:Jeetchoudhury76@gmail.com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35990" y="5085080"/>
            <a:ext cx="9815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hlinkClick r:id="rId1" tooltip="" action="ppaction://hlinkfile"/>
              </a:rPr>
              <a:t>https://docs.google.com/spreadsheets/d/1NEveJooSLHrb9U2_QZp_AG-g2WDMrTF5/edit?usp=drivesdk&amp;ouid=111398243446314990339&amp;rtpof=true&amp;sd=true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9873</Words>
  <Application>WPS Presentation</Application>
  <PresentationFormat>Widescreen</PresentationFormat>
  <Paragraphs>277</Paragraphs>
  <Slides>56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4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sonal</cp:lastModifiedBy>
  <cp:revision>30</cp:revision>
  <dcterms:created xsi:type="dcterms:W3CDTF">2023-08-18T03:58:00Z</dcterms:created>
  <dcterms:modified xsi:type="dcterms:W3CDTF">2023-08-21T08:44:33Z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B548CF8BEA724963A9D997DFE4EA1383_11</vt:lpwstr>
  </property>
  <property fmtid="{D5CDD505-2E9C-101B-9397-08002B2CF9AE}" pid="3" name="KSOProductBuildVer">
    <vt:lpwstr>1033-12.2.0.13110</vt:lpwstr>
  </property>
</Properties>
</file>